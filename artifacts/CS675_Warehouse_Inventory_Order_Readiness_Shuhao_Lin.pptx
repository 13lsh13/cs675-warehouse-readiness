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My final project is a Warehouse Inventory and Outbound Order Readiness Analysis System. It combines warehouse operations knowledge with Spark, SQL, AWS, and reproducible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Warehouses must consider timing, not only the current balance. An order can look short today but become ready after an inbound receipt—or look ready until an earlier outbound consumes the stock.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separates product master data, shipment plans, and executed inventory events. Product ID and warehouse ID connect the tables; shipment ID links scheduled shipments to completed movements.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product and warehouse, I calculate current inventory from completed transactions, then apply future inbound and outbound events by date. Inbound is processed before outbound on the same date.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status is designed for supervisors and planners. Ready and At Risk distinguish healthy orders from orders that leave little safety stock. Waiting for Inbound separates timing issues from unresolved shortages.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Spark job reads explicit schemas, applies data-quality rules, calculates current inventory, orders future events with window functions, assigns readiness status, and writes partitioned Parquet.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first test the logic locally with Docker and a smaller dataset. The cloud version stores raw and curated zones in S3, runs Spark on EMR Serverless, and exposes results through Athena.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included sample uses a fixed random seed and an as-of date of August 1, 2026. It represents three warehouses and realistic inbound, outbound, transfer, put-away, adjustment, and delay patterns.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684 upcoming outbound orders, 511 are ready. The remaining 173 are at risk, waiting for inbound, or short. Total modeled shortage exposure is 2,288 pallets.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curated tables support daily exception reporting and broader product analysis. These example results are produced from the same synthetic schedule included with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large test uses the same schemas and logic, but generates partitioned files and distributes processing across Spark executors. The goal is to demonstrate volume, distributed computation, and efficient query storage—not merely create one oversized CSV.</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expected result is a practical analytics system that finds inventory constraints before orders are loaded. It demonstrates data modeling, quality controls, distributed processing, cloud design, SQL analytics, and business interpretation.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0"/>
            <a:ext cx="7498079" cy="1600200"/>
          </a:xfrm>
          <a:prstGeom prst="rect">
            <a:avLst/>
          </a:prstGeom>
          <a:noFill/>
        </p:spPr>
        <p:txBody>
          <a:bodyPr wrap="square" anchor="ctr">
            <a:spAutoFit/>
          </a:bodyPr>
          <a:lstStyle/>
          <a:p>
            <a:pPr algn="l">
              <a:defRPr sz="3000" b="1">
                <a:solidFill>
                  <a:srgbClr val="FFFFFF"/>
                </a:solidFill>
                <a:latin typeface="Aptos"/>
              </a:defRPr>
            </a:pPr>
            <a:r>
              <a:t>WAREHOUSE INVENTORY &amp;</a:t>
            </a:r>
            <a:br/>
            <a:r>
              <a:t>OUTBOUND ORDER READINESS</a:t>
            </a:r>
          </a:p>
        </p:txBody>
      </p:sp>
      <p:sp>
        <p:nvSpPr>
          <p:cNvPr id="4" name="TextBox 3"/>
          <p:cNvSpPr txBox="1"/>
          <p:nvPr/>
        </p:nvSpPr>
        <p:spPr>
          <a:xfrm>
            <a:off x="658368" y="2907792"/>
            <a:ext cx="6858000" cy="731520"/>
          </a:xfrm>
          <a:prstGeom prst="rect">
            <a:avLst/>
          </a:prstGeom>
          <a:noFill/>
        </p:spPr>
        <p:txBody>
          <a:bodyPr wrap="square" anchor="ctr">
            <a:spAutoFit/>
          </a:bodyPr>
          <a:lstStyle/>
          <a:p>
            <a:pPr algn="l">
              <a:defRPr sz="1800" b="0">
                <a:solidFill>
                  <a:srgbClr val="B8D8EA"/>
                </a:solidFill>
                <a:latin typeface="Aptos"/>
              </a:defRPr>
            </a:pPr>
            <a:r>
              <a:t>A scalable Spark and AWS system for identifying pallet shortages before loading</a:t>
            </a:r>
          </a:p>
        </p:txBody>
      </p:sp>
      <p:sp>
        <p:nvSpPr>
          <p:cNvPr id="5" name="Rounded Rectangle 4"/>
          <p:cNvSpPr/>
          <p:nvPr/>
        </p:nvSpPr>
        <p:spPr>
          <a:xfrm>
            <a:off x="8138160" y="1280160"/>
            <a:ext cx="3337560" cy="205740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38160" y="1280160"/>
            <a:ext cx="73152" cy="20574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66760" y="1399031"/>
            <a:ext cx="2953512" cy="365760"/>
          </a:xfrm>
          <a:prstGeom prst="rect">
            <a:avLst/>
          </a:prstGeom>
          <a:noFill/>
        </p:spPr>
        <p:txBody>
          <a:bodyPr wrap="square" anchor="ctr">
            <a:spAutoFit/>
          </a:bodyPr>
          <a:lstStyle/>
          <a:p>
            <a:pPr algn="l">
              <a:defRPr sz="1500" b="1">
                <a:solidFill>
                  <a:srgbClr val="102A43"/>
                </a:solidFill>
                <a:latin typeface="Aptos"/>
              </a:defRPr>
            </a:pPr>
            <a:r>
              <a:t>DECISION QUESTION</a:t>
            </a:r>
          </a:p>
        </p:txBody>
      </p:sp>
      <p:sp>
        <p:nvSpPr>
          <p:cNvPr id="8" name="TextBox 7"/>
          <p:cNvSpPr txBox="1"/>
          <p:nvPr/>
        </p:nvSpPr>
        <p:spPr>
          <a:xfrm>
            <a:off x="8366760" y="1810512"/>
            <a:ext cx="2953512" cy="1417320"/>
          </a:xfrm>
          <a:prstGeom prst="rect">
            <a:avLst/>
          </a:prstGeom>
          <a:noFill/>
        </p:spPr>
        <p:txBody>
          <a:bodyPr wrap="square" anchor="ctr">
            <a:spAutoFit/>
          </a:bodyPr>
          <a:lstStyle/>
          <a:p>
            <a:pPr algn="l">
              <a:defRPr sz="1300" b="0">
                <a:solidFill>
                  <a:srgbClr val="627D98"/>
                </a:solidFill>
                <a:latin typeface="Aptos"/>
              </a:defRPr>
            </a:pPr>
            <a:r>
              <a:t>Will enough inventory exist for each outbound order—and if not, when will it become available?</a:t>
            </a:r>
          </a:p>
        </p:txBody>
      </p:sp>
      <p:sp>
        <p:nvSpPr>
          <p:cNvPr id="9" name="TextBox 8"/>
          <p:cNvSpPr txBox="1"/>
          <p:nvPr/>
        </p:nvSpPr>
        <p:spPr>
          <a:xfrm>
            <a:off x="658368" y="5989320"/>
            <a:ext cx="6400800" cy="274320"/>
          </a:xfrm>
          <a:prstGeom prst="rect">
            <a:avLst/>
          </a:prstGeom>
          <a:noFill/>
        </p:spPr>
        <p:txBody>
          <a:bodyPr wrap="square" anchor="ctr">
            <a:spAutoFit/>
          </a:bodyPr>
          <a:lstStyle/>
          <a:p>
            <a:pPr algn="l">
              <a:defRPr sz="1300" b="0">
                <a:solidFill>
                  <a:srgbClr val="FFFFFF"/>
                </a:solidFill>
                <a:latin typeface="Aptos"/>
              </a:defRPr>
            </a:pPr>
            <a:r>
              <a:t>Shuhao Lin  •  CS-675 Big Data Management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28600"/>
            <a:ext cx="10972800" cy="274320"/>
          </a:xfrm>
          <a:prstGeom prst="rect">
            <a:avLst/>
          </a:prstGeom>
          <a:noFill/>
        </p:spPr>
        <p:txBody>
          <a:bodyPr wrap="square" anchor="ctr">
            <a:spAutoFit/>
          </a:bodyPr>
          <a:lstStyle/>
          <a:p>
            <a:pPr algn="l">
              <a:defRPr sz="1000" b="1">
                <a:solidFill>
                  <a:srgbClr val="00A6A6"/>
                </a:solidFill>
                <a:latin typeface="Aptos"/>
              </a:defRPr>
            </a:pPr>
            <a:r>
              <a:t>BUSINESS PROBLEM</a:t>
            </a:r>
          </a:p>
        </p:txBody>
      </p:sp>
      <p:sp>
        <p:nvSpPr>
          <p:cNvPr id="4" name="TextBox 3"/>
          <p:cNvSpPr txBox="1"/>
          <p:nvPr/>
        </p:nvSpPr>
        <p:spPr>
          <a:xfrm>
            <a:off x="566928" y="530352"/>
            <a:ext cx="10972800" cy="594360"/>
          </a:xfrm>
          <a:prstGeom prst="rect">
            <a:avLst/>
          </a:prstGeom>
          <a:noFill/>
        </p:spPr>
        <p:txBody>
          <a:bodyPr wrap="square" anchor="ctr">
            <a:spAutoFit/>
          </a:bodyPr>
          <a:lstStyle/>
          <a:p>
            <a:pPr algn="l">
              <a:defRPr sz="2700" b="1">
                <a:solidFill>
                  <a:srgbClr val="102A43"/>
                </a:solidFill>
                <a:latin typeface="Aptos"/>
              </a:defRPr>
            </a:pPr>
            <a:r>
              <a:t>Inventory on hand is only part of the answer</a:t>
            </a:r>
          </a:p>
        </p:txBody>
      </p:sp>
      <p:sp>
        <p:nvSpPr>
          <p:cNvPr id="5" name="TextBox 4"/>
          <p:cNvSpPr txBox="1"/>
          <p:nvPr/>
        </p:nvSpPr>
        <p:spPr>
          <a:xfrm>
            <a:off x="576072" y="6547104"/>
            <a:ext cx="4754880" cy="182880"/>
          </a:xfrm>
          <a:prstGeom prst="rect">
            <a:avLst/>
          </a:prstGeom>
          <a:noFill/>
        </p:spPr>
        <p:txBody>
          <a:bodyPr wrap="square" anchor="ctr">
            <a:spAutoFit/>
          </a:bodyPr>
          <a:lstStyle/>
          <a:p>
            <a:pPr algn="l">
              <a:defRPr sz="900" b="0">
                <a:solidFill>
                  <a:srgbClr val="627D98"/>
                </a:solidFill>
                <a:latin typeface="Aptos"/>
              </a:defRPr>
            </a:pPr>
            <a:r>
              <a:t>CS-675 Big Data Management  |  Shuhao Lin</a:t>
            </a:r>
          </a:p>
        </p:txBody>
      </p:sp>
      <p:sp>
        <p:nvSpPr>
          <p:cNvPr id="6" name="TextBox 5"/>
          <p:cNvSpPr txBox="1"/>
          <p:nvPr/>
        </p:nvSpPr>
        <p:spPr>
          <a:xfrm>
            <a:off x="11201400" y="6547104"/>
            <a:ext cx="365760" cy="182880"/>
          </a:xfrm>
          <a:prstGeom prst="rect">
            <a:avLst/>
          </a:prstGeom>
          <a:noFill/>
        </p:spPr>
        <p:txBody>
          <a:bodyPr wrap="square" anchor="ctr">
            <a:spAutoFit/>
          </a:bodyPr>
          <a:lstStyle/>
          <a:p>
            <a:pPr algn="r">
              <a:defRPr sz="900" b="0">
                <a:solidFill>
                  <a:srgbClr val="627D98"/>
                </a:solidFill>
                <a:latin typeface="Aptos"/>
              </a:defRPr>
            </a:pPr>
            <a:r>
              <a:t>2</a:t>
            </a:r>
          </a:p>
        </p:txBody>
      </p:sp>
      <p:sp>
        <p:nvSpPr>
          <p:cNvPr id="7" name="Rounded Rectangle 6"/>
          <p:cNvSpPr/>
          <p:nvPr/>
        </p:nvSpPr>
        <p:spPr>
          <a:xfrm>
            <a:off x="640080" y="1417320"/>
            <a:ext cx="3383280" cy="146304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417320"/>
            <a:ext cx="73152" cy="146304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36192"/>
            <a:ext cx="2999232" cy="365760"/>
          </a:xfrm>
          <a:prstGeom prst="rect">
            <a:avLst/>
          </a:prstGeom>
          <a:noFill/>
        </p:spPr>
        <p:txBody>
          <a:bodyPr wrap="square" anchor="ctr">
            <a:spAutoFit/>
          </a:bodyPr>
          <a:lstStyle/>
          <a:p>
            <a:pPr algn="l">
              <a:defRPr sz="1500" b="1">
                <a:solidFill>
                  <a:srgbClr val="102A43"/>
                </a:solidFill>
                <a:latin typeface="Aptos"/>
              </a:defRPr>
            </a:pPr>
            <a:r>
              <a:t>Current inventory</a:t>
            </a:r>
          </a:p>
        </p:txBody>
      </p:sp>
      <p:sp>
        <p:nvSpPr>
          <p:cNvPr id="10" name="TextBox 9"/>
          <p:cNvSpPr txBox="1"/>
          <p:nvPr/>
        </p:nvSpPr>
        <p:spPr>
          <a:xfrm>
            <a:off x="868680" y="1947672"/>
            <a:ext cx="2999232" cy="822960"/>
          </a:xfrm>
          <a:prstGeom prst="rect">
            <a:avLst/>
          </a:prstGeom>
          <a:noFill/>
        </p:spPr>
        <p:txBody>
          <a:bodyPr wrap="square" anchor="ctr">
            <a:spAutoFit/>
          </a:bodyPr>
          <a:lstStyle/>
          <a:p>
            <a:pPr algn="l">
              <a:defRPr sz="1300" b="0">
                <a:solidFill>
                  <a:srgbClr val="627D98"/>
                </a:solidFill>
                <a:latin typeface="Aptos"/>
              </a:defRPr>
            </a:pPr>
            <a:r>
              <a:t>Completed receipts, shipments, transfers, and adjustments establish the as-of balance.</a:t>
            </a:r>
          </a:p>
        </p:txBody>
      </p:sp>
      <p:sp>
        <p:nvSpPr>
          <p:cNvPr id="11" name="Rounded Rectangle 10"/>
          <p:cNvSpPr/>
          <p:nvPr/>
        </p:nvSpPr>
        <p:spPr>
          <a:xfrm>
            <a:off x="4389120" y="1417320"/>
            <a:ext cx="3383280" cy="146304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417320"/>
            <a:ext cx="73152" cy="146304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1536192"/>
            <a:ext cx="2999232" cy="365760"/>
          </a:xfrm>
          <a:prstGeom prst="rect">
            <a:avLst/>
          </a:prstGeom>
          <a:noFill/>
        </p:spPr>
        <p:txBody>
          <a:bodyPr wrap="square" anchor="ctr">
            <a:spAutoFit/>
          </a:bodyPr>
          <a:lstStyle/>
          <a:p>
            <a:pPr algn="l">
              <a:defRPr sz="1500" b="1">
                <a:solidFill>
                  <a:srgbClr val="102A43"/>
                </a:solidFill>
                <a:latin typeface="Aptos"/>
              </a:defRPr>
            </a:pPr>
            <a:r>
              <a:t>Future events</a:t>
            </a:r>
          </a:p>
        </p:txBody>
      </p:sp>
      <p:sp>
        <p:nvSpPr>
          <p:cNvPr id="14" name="TextBox 13"/>
          <p:cNvSpPr txBox="1"/>
          <p:nvPr/>
        </p:nvSpPr>
        <p:spPr>
          <a:xfrm>
            <a:off x="4617720" y="1947672"/>
            <a:ext cx="2999232" cy="822960"/>
          </a:xfrm>
          <a:prstGeom prst="rect">
            <a:avLst/>
          </a:prstGeom>
          <a:noFill/>
        </p:spPr>
        <p:txBody>
          <a:bodyPr wrap="square" anchor="ctr">
            <a:spAutoFit/>
          </a:bodyPr>
          <a:lstStyle/>
          <a:p>
            <a:pPr algn="l">
              <a:defRPr sz="1300" b="0">
                <a:solidFill>
                  <a:srgbClr val="627D98"/>
                </a:solidFill>
                <a:latin typeface="Aptos"/>
              </a:defRPr>
            </a:pPr>
            <a:r>
              <a:t>Scheduled inbound and outbound quantities change the projected balance chronologically.</a:t>
            </a:r>
          </a:p>
        </p:txBody>
      </p:sp>
      <p:sp>
        <p:nvSpPr>
          <p:cNvPr id="15" name="Rounded Rectangle 14"/>
          <p:cNvSpPr/>
          <p:nvPr/>
        </p:nvSpPr>
        <p:spPr>
          <a:xfrm>
            <a:off x="8138160" y="1417320"/>
            <a:ext cx="3383280" cy="146304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417320"/>
            <a:ext cx="73152" cy="1463040"/>
          </a:xfrm>
          <a:prstGeom prst="rect">
            <a:avLst/>
          </a:prstGeom>
          <a:solidFill>
            <a:srgbClr val="F39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1536192"/>
            <a:ext cx="2999232" cy="365760"/>
          </a:xfrm>
          <a:prstGeom prst="rect">
            <a:avLst/>
          </a:prstGeom>
          <a:noFill/>
        </p:spPr>
        <p:txBody>
          <a:bodyPr wrap="square" anchor="ctr">
            <a:spAutoFit/>
          </a:bodyPr>
          <a:lstStyle/>
          <a:p>
            <a:pPr algn="l">
              <a:defRPr sz="1500" b="1">
                <a:solidFill>
                  <a:srgbClr val="102A43"/>
                </a:solidFill>
                <a:latin typeface="Aptos"/>
              </a:defRPr>
            </a:pPr>
            <a:r>
              <a:t>Operational decision</a:t>
            </a:r>
          </a:p>
        </p:txBody>
      </p:sp>
      <p:sp>
        <p:nvSpPr>
          <p:cNvPr id="18" name="TextBox 17"/>
          <p:cNvSpPr txBox="1"/>
          <p:nvPr/>
        </p:nvSpPr>
        <p:spPr>
          <a:xfrm>
            <a:off x="8366760" y="1947672"/>
            <a:ext cx="2999232" cy="822960"/>
          </a:xfrm>
          <a:prstGeom prst="rect">
            <a:avLst/>
          </a:prstGeom>
          <a:noFill/>
        </p:spPr>
        <p:txBody>
          <a:bodyPr wrap="square" anchor="ctr">
            <a:spAutoFit/>
          </a:bodyPr>
          <a:lstStyle/>
          <a:p>
            <a:pPr algn="l">
              <a:defRPr sz="1300" b="0">
                <a:solidFill>
                  <a:srgbClr val="627D98"/>
                </a:solidFill>
                <a:latin typeface="Aptos"/>
              </a:defRPr>
            </a:pPr>
            <a:r>
              <a:t>Flag the order, quantify missing pallets, and estimate the first available date.</a:t>
            </a:r>
          </a:p>
        </p:txBody>
      </p:sp>
      <p:sp>
        <p:nvSpPr>
          <p:cNvPr id="19" name="TextBox 18"/>
          <p:cNvSpPr txBox="1"/>
          <p:nvPr/>
        </p:nvSpPr>
        <p:spPr>
          <a:xfrm>
            <a:off x="685800" y="3383280"/>
            <a:ext cx="2103120" cy="274320"/>
          </a:xfrm>
          <a:prstGeom prst="rect">
            <a:avLst/>
          </a:prstGeom>
          <a:noFill/>
        </p:spPr>
        <p:txBody>
          <a:bodyPr wrap="square" anchor="ctr">
            <a:spAutoFit/>
          </a:bodyPr>
          <a:lstStyle/>
          <a:p>
            <a:pPr algn="l">
              <a:defRPr sz="1100" b="1">
                <a:solidFill>
                  <a:srgbClr val="00A6A6"/>
                </a:solidFill>
                <a:latin typeface="Aptos"/>
              </a:defRPr>
            </a:pPr>
            <a:r>
              <a:t>PROJECT QUESTION</a:t>
            </a:r>
          </a:p>
        </p:txBody>
      </p:sp>
      <p:sp>
        <p:nvSpPr>
          <p:cNvPr id="20" name="TextBox 19"/>
          <p:cNvSpPr txBox="1"/>
          <p:nvPr/>
        </p:nvSpPr>
        <p:spPr>
          <a:xfrm>
            <a:off x="685800" y="3703320"/>
            <a:ext cx="10698480" cy="868680"/>
          </a:xfrm>
          <a:prstGeom prst="rect">
            <a:avLst/>
          </a:prstGeom>
          <a:noFill/>
        </p:spPr>
        <p:txBody>
          <a:bodyPr wrap="square" anchor="ctr">
            <a:spAutoFit/>
          </a:bodyPr>
          <a:lstStyle/>
          <a:p>
            <a:pPr algn="l">
              <a:defRPr sz="2500" b="1">
                <a:solidFill>
                  <a:srgbClr val="102A43"/>
                </a:solidFill>
                <a:latin typeface="Aptos"/>
              </a:defRPr>
            </a:pPr>
            <a:r>
              <a:t>Will the warehouse have enough inventory to complete each upcoming outbound order?</a:t>
            </a:r>
          </a:p>
        </p:txBody>
      </p:sp>
      <p:sp>
        <p:nvSpPr>
          <p:cNvPr id="21" name="TextBox 20"/>
          <p:cNvSpPr txBox="1"/>
          <p:nvPr/>
        </p:nvSpPr>
        <p:spPr>
          <a:xfrm>
            <a:off x="685800" y="4754880"/>
            <a:ext cx="10515600" cy="640080"/>
          </a:xfrm>
          <a:prstGeom prst="rect">
            <a:avLst/>
          </a:prstGeom>
          <a:noFill/>
        </p:spPr>
        <p:txBody>
          <a:bodyPr wrap="square" anchor="ctr">
            <a:spAutoFit/>
          </a:bodyPr>
          <a:lstStyle/>
          <a:p>
            <a:pPr algn="l">
              <a:defRPr sz="1800" b="0">
                <a:solidFill>
                  <a:srgbClr val="243B53"/>
                </a:solidFill>
                <a:latin typeface="Aptos"/>
              </a:defRPr>
            </a:pPr>
            <a:r>
              <a:t>If not: how many pallets are missing, and when is inventory expected to become available?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28600"/>
            <a:ext cx="10972800" cy="274320"/>
          </a:xfrm>
          <a:prstGeom prst="rect">
            <a:avLst/>
          </a:prstGeom>
          <a:noFill/>
        </p:spPr>
        <p:txBody>
          <a:bodyPr wrap="square" anchor="ctr">
            <a:spAutoFit/>
          </a:bodyPr>
          <a:lstStyle/>
          <a:p>
            <a:pPr algn="l">
              <a:defRPr sz="1000" b="1">
                <a:solidFill>
                  <a:srgbClr val="00A6A6"/>
                </a:solidFill>
                <a:latin typeface="Aptos"/>
              </a:defRPr>
            </a:pPr>
            <a:r>
              <a:t>DATA MODEL</a:t>
            </a:r>
          </a:p>
        </p:txBody>
      </p:sp>
      <p:sp>
        <p:nvSpPr>
          <p:cNvPr id="4" name="TextBox 3"/>
          <p:cNvSpPr txBox="1"/>
          <p:nvPr/>
        </p:nvSpPr>
        <p:spPr>
          <a:xfrm>
            <a:off x="566928" y="530352"/>
            <a:ext cx="10972800" cy="594360"/>
          </a:xfrm>
          <a:prstGeom prst="rect">
            <a:avLst/>
          </a:prstGeom>
          <a:noFill/>
        </p:spPr>
        <p:txBody>
          <a:bodyPr wrap="square" anchor="ctr">
            <a:spAutoFit/>
          </a:bodyPr>
          <a:lstStyle/>
          <a:p>
            <a:pPr algn="l">
              <a:defRPr sz="2700" b="1">
                <a:solidFill>
                  <a:srgbClr val="102A43"/>
                </a:solidFill>
                <a:latin typeface="Aptos"/>
              </a:defRPr>
            </a:pPr>
            <a:r>
              <a:t>Three related datasets create an event-level inventory view</a:t>
            </a:r>
          </a:p>
        </p:txBody>
      </p:sp>
      <p:sp>
        <p:nvSpPr>
          <p:cNvPr id="5" name="TextBox 4"/>
          <p:cNvSpPr txBox="1"/>
          <p:nvPr/>
        </p:nvSpPr>
        <p:spPr>
          <a:xfrm>
            <a:off x="576072" y="6547104"/>
            <a:ext cx="4754880" cy="182880"/>
          </a:xfrm>
          <a:prstGeom prst="rect">
            <a:avLst/>
          </a:prstGeom>
          <a:noFill/>
        </p:spPr>
        <p:txBody>
          <a:bodyPr wrap="square" anchor="ctr">
            <a:spAutoFit/>
          </a:bodyPr>
          <a:lstStyle/>
          <a:p>
            <a:pPr algn="l">
              <a:defRPr sz="900" b="0">
                <a:solidFill>
                  <a:srgbClr val="627D98"/>
                </a:solidFill>
                <a:latin typeface="Aptos"/>
              </a:defRPr>
            </a:pPr>
            <a:r>
              <a:t>CS-675 Big Data Management  |  Shuhao Lin</a:t>
            </a:r>
          </a:p>
        </p:txBody>
      </p:sp>
      <p:sp>
        <p:nvSpPr>
          <p:cNvPr id="6" name="TextBox 5"/>
          <p:cNvSpPr txBox="1"/>
          <p:nvPr/>
        </p:nvSpPr>
        <p:spPr>
          <a:xfrm>
            <a:off x="11201400" y="6547104"/>
            <a:ext cx="365760" cy="182880"/>
          </a:xfrm>
          <a:prstGeom prst="rect">
            <a:avLst/>
          </a:prstGeom>
          <a:noFill/>
        </p:spPr>
        <p:txBody>
          <a:bodyPr wrap="square" anchor="ctr">
            <a:spAutoFit/>
          </a:bodyPr>
          <a:lstStyle/>
          <a:p>
            <a:pPr algn="r">
              <a:defRPr sz="900" b="0">
                <a:solidFill>
                  <a:srgbClr val="627D98"/>
                </a:solidFill>
                <a:latin typeface="Aptos"/>
              </a:defRPr>
            </a:pPr>
            <a:r>
              <a:t>3</a:t>
            </a:r>
          </a:p>
        </p:txBody>
      </p:sp>
      <p:sp>
        <p:nvSpPr>
          <p:cNvPr id="7" name="Rounded Rectangle 6"/>
          <p:cNvSpPr/>
          <p:nvPr/>
        </p:nvSpPr>
        <p:spPr>
          <a:xfrm>
            <a:off x="594360" y="1417320"/>
            <a:ext cx="3429000" cy="182880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17320"/>
            <a:ext cx="73152" cy="18288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36192"/>
            <a:ext cx="3044952" cy="365760"/>
          </a:xfrm>
          <a:prstGeom prst="rect">
            <a:avLst/>
          </a:prstGeom>
          <a:noFill/>
        </p:spPr>
        <p:txBody>
          <a:bodyPr wrap="square" anchor="ctr">
            <a:spAutoFit/>
          </a:bodyPr>
          <a:lstStyle/>
          <a:p>
            <a:pPr algn="l">
              <a:defRPr sz="1500" b="1">
                <a:solidFill>
                  <a:srgbClr val="102A43"/>
                </a:solidFill>
                <a:latin typeface="Aptos"/>
              </a:defRPr>
            </a:pPr>
            <a:r>
              <a:t>PRODUCT REFERENCE</a:t>
            </a:r>
          </a:p>
        </p:txBody>
      </p:sp>
      <p:sp>
        <p:nvSpPr>
          <p:cNvPr id="10" name="TextBox 9"/>
          <p:cNvSpPr txBox="1"/>
          <p:nvPr/>
        </p:nvSpPr>
        <p:spPr>
          <a:xfrm>
            <a:off x="822960" y="1947672"/>
            <a:ext cx="3044952" cy="1188720"/>
          </a:xfrm>
          <a:prstGeom prst="rect">
            <a:avLst/>
          </a:prstGeom>
          <a:noFill/>
        </p:spPr>
        <p:txBody>
          <a:bodyPr wrap="square" anchor="ctr">
            <a:spAutoFit/>
          </a:bodyPr>
          <a:lstStyle/>
          <a:p>
            <a:pPr algn="l">
              <a:defRPr sz="1300" b="0">
                <a:solidFill>
                  <a:srgbClr val="627D98"/>
                </a:solidFill>
                <a:latin typeface="Aptos"/>
              </a:defRPr>
            </a:pPr>
            <a:r>
              <a:t>product_id • category • packaging • units/pallet • storage area • safety stock</a:t>
            </a:r>
          </a:p>
        </p:txBody>
      </p:sp>
      <p:sp>
        <p:nvSpPr>
          <p:cNvPr id="11" name="Rounded Rectangle 10"/>
          <p:cNvSpPr/>
          <p:nvPr/>
        </p:nvSpPr>
        <p:spPr>
          <a:xfrm>
            <a:off x="4370832" y="1417320"/>
            <a:ext cx="3429000" cy="182880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417320"/>
            <a:ext cx="73152" cy="18288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9432" y="1536192"/>
            <a:ext cx="3044952" cy="365760"/>
          </a:xfrm>
          <a:prstGeom prst="rect">
            <a:avLst/>
          </a:prstGeom>
          <a:noFill/>
        </p:spPr>
        <p:txBody>
          <a:bodyPr wrap="square" anchor="ctr">
            <a:spAutoFit/>
          </a:bodyPr>
          <a:lstStyle/>
          <a:p>
            <a:pPr algn="l">
              <a:defRPr sz="1500" b="1">
                <a:solidFill>
                  <a:srgbClr val="102A43"/>
                </a:solidFill>
                <a:latin typeface="Aptos"/>
              </a:defRPr>
            </a:pPr>
            <a:r>
              <a:t>SHIPMENT SCHEDULE</a:t>
            </a:r>
          </a:p>
        </p:txBody>
      </p:sp>
      <p:sp>
        <p:nvSpPr>
          <p:cNvPr id="14" name="TextBox 13"/>
          <p:cNvSpPr txBox="1"/>
          <p:nvPr/>
        </p:nvSpPr>
        <p:spPr>
          <a:xfrm>
            <a:off x="4599432" y="1947672"/>
            <a:ext cx="3044952" cy="1188720"/>
          </a:xfrm>
          <a:prstGeom prst="rect">
            <a:avLst/>
          </a:prstGeom>
          <a:noFill/>
        </p:spPr>
        <p:txBody>
          <a:bodyPr wrap="square" anchor="ctr">
            <a:spAutoFit/>
          </a:bodyPr>
          <a:lstStyle/>
          <a:p>
            <a:pPr algn="l">
              <a:defRPr sz="1300" b="0">
                <a:solidFill>
                  <a:srgbClr val="627D98"/>
                </a:solidFill>
                <a:latin typeface="Aptos"/>
              </a:defRPr>
            </a:pPr>
            <a:r>
              <a:t>shipment_id • product_id • warehouse_id • scheduled date • planned/actual pallets • type • status</a:t>
            </a:r>
          </a:p>
        </p:txBody>
      </p:sp>
      <p:sp>
        <p:nvSpPr>
          <p:cNvPr id="15" name="Rounded Rectangle 14"/>
          <p:cNvSpPr/>
          <p:nvPr/>
        </p:nvSpPr>
        <p:spPr>
          <a:xfrm>
            <a:off x="8138160" y="1417320"/>
            <a:ext cx="3429000" cy="182880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417320"/>
            <a:ext cx="73152" cy="1828800"/>
          </a:xfrm>
          <a:prstGeom prst="rect">
            <a:avLst/>
          </a:prstGeom>
          <a:solidFill>
            <a:srgbClr val="F39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1536192"/>
            <a:ext cx="3044952" cy="365760"/>
          </a:xfrm>
          <a:prstGeom prst="rect">
            <a:avLst/>
          </a:prstGeom>
          <a:noFill/>
        </p:spPr>
        <p:txBody>
          <a:bodyPr wrap="square" anchor="ctr">
            <a:spAutoFit/>
          </a:bodyPr>
          <a:lstStyle/>
          <a:p>
            <a:pPr algn="l">
              <a:defRPr sz="1500" b="1">
                <a:solidFill>
                  <a:srgbClr val="102A43"/>
                </a:solidFill>
                <a:latin typeface="Aptos"/>
              </a:defRPr>
            </a:pPr>
            <a:r>
              <a:t>INVENTORY TRANSACTIONS</a:t>
            </a:r>
          </a:p>
        </p:txBody>
      </p:sp>
      <p:sp>
        <p:nvSpPr>
          <p:cNvPr id="18" name="TextBox 17"/>
          <p:cNvSpPr txBox="1"/>
          <p:nvPr/>
        </p:nvSpPr>
        <p:spPr>
          <a:xfrm>
            <a:off x="8366760" y="1947672"/>
            <a:ext cx="3044952" cy="1188720"/>
          </a:xfrm>
          <a:prstGeom prst="rect">
            <a:avLst/>
          </a:prstGeom>
          <a:noFill/>
        </p:spPr>
        <p:txBody>
          <a:bodyPr wrap="square" anchor="ctr">
            <a:spAutoFit/>
          </a:bodyPr>
          <a:lstStyle/>
          <a:p>
            <a:pPr algn="l">
              <a:defRPr sz="1300" b="0">
                <a:solidFill>
                  <a:srgbClr val="627D98"/>
                </a:solidFill>
                <a:latin typeface="Aptos"/>
              </a:defRPr>
            </a:pPr>
            <a:r>
              <a:t>transaction_id • shipment_id • product_id • warehouse_id • date • type • signed pallet quantity</a:t>
            </a:r>
          </a:p>
        </p:txBody>
      </p:sp>
      <p:sp>
        <p:nvSpPr>
          <p:cNvPr id="19" name="TextBox 18"/>
          <p:cNvSpPr txBox="1"/>
          <p:nvPr/>
        </p:nvSpPr>
        <p:spPr>
          <a:xfrm>
            <a:off x="685800" y="3749039"/>
            <a:ext cx="1280160" cy="274320"/>
          </a:xfrm>
          <a:prstGeom prst="rect">
            <a:avLst/>
          </a:prstGeom>
          <a:noFill/>
        </p:spPr>
        <p:txBody>
          <a:bodyPr wrap="square" anchor="ctr">
            <a:spAutoFit/>
          </a:bodyPr>
          <a:lstStyle/>
          <a:p>
            <a:pPr algn="l">
              <a:defRPr sz="1100" b="1">
                <a:solidFill>
                  <a:srgbClr val="00A6A6"/>
                </a:solidFill>
                <a:latin typeface="Aptos"/>
              </a:defRPr>
            </a:pPr>
            <a:r>
              <a:t>JOIN KEYS</a:t>
            </a:r>
          </a:p>
        </p:txBody>
      </p:sp>
      <p:sp>
        <p:nvSpPr>
          <p:cNvPr id="20" name="TextBox 19"/>
          <p:cNvSpPr txBox="1"/>
          <p:nvPr/>
        </p:nvSpPr>
        <p:spPr>
          <a:xfrm>
            <a:off x="685800" y="4087368"/>
            <a:ext cx="7315200" cy="502920"/>
          </a:xfrm>
          <a:prstGeom prst="rect">
            <a:avLst/>
          </a:prstGeom>
          <a:noFill/>
        </p:spPr>
        <p:txBody>
          <a:bodyPr wrap="square" anchor="ctr">
            <a:spAutoFit/>
          </a:bodyPr>
          <a:lstStyle/>
          <a:p>
            <a:pPr algn="l">
              <a:defRPr sz="2100" b="1">
                <a:solidFill>
                  <a:srgbClr val="102A43"/>
                </a:solidFill>
                <a:latin typeface="Aptos"/>
              </a:defRPr>
            </a:pPr>
            <a:r>
              <a:t>product_id  +  warehouse_id  +  shipment_id  +  date</a:t>
            </a:r>
          </a:p>
        </p:txBody>
      </p:sp>
      <p:sp>
        <p:nvSpPr>
          <p:cNvPr id="21" name="TextBox 20"/>
          <p:cNvSpPr txBox="1"/>
          <p:nvPr/>
        </p:nvSpPr>
        <p:spPr>
          <a:xfrm>
            <a:off x="685800" y="4709160"/>
            <a:ext cx="10515600" cy="1097280"/>
          </a:xfrm>
          <a:prstGeom prst="rect">
            <a:avLst/>
          </a:prstGeom>
          <a:noFill/>
        </p:spPr>
        <p:txBody>
          <a:bodyPr wrap="square">
            <a:spAutoFit/>
          </a:bodyPr>
          <a:lstStyle/>
          <a:p>
            <a:pPr>
              <a:spcAft>
                <a:spcPts val="1200"/>
              </a:spcAft>
              <a:defRPr sz="1700">
                <a:solidFill>
                  <a:srgbClr val="243B53"/>
                </a:solidFill>
                <a:latin typeface="Aptos"/>
              </a:defRPr>
            </a:pPr>
            <a:r>
              <a:t>• Synthetic records protect customers, employees, products, and shipment details.</a:t>
            </a:r>
          </a:p>
          <a:p>
            <a:pPr>
              <a:spcAft>
                <a:spcPts val="1200"/>
              </a:spcAft>
              <a:defRPr sz="1700">
                <a:solidFill>
                  <a:srgbClr val="243B53"/>
                </a:solidFill>
                <a:latin typeface="Aptos"/>
              </a:defRPr>
            </a:pPr>
            <a:r>
              <a:t>• The same schema supports a 25,000-row demo and a 100-million-record cloud test.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28600"/>
            <a:ext cx="10972800" cy="274320"/>
          </a:xfrm>
          <a:prstGeom prst="rect">
            <a:avLst/>
          </a:prstGeom>
          <a:noFill/>
        </p:spPr>
        <p:txBody>
          <a:bodyPr wrap="square" anchor="ctr">
            <a:spAutoFit/>
          </a:bodyPr>
          <a:lstStyle/>
          <a:p>
            <a:pPr algn="l">
              <a:defRPr sz="1000" b="1">
                <a:solidFill>
                  <a:srgbClr val="00A6A6"/>
                </a:solidFill>
                <a:latin typeface="Aptos"/>
              </a:defRPr>
            </a:pPr>
            <a:r>
              <a:t>CORE CALCULATION</a:t>
            </a:r>
          </a:p>
        </p:txBody>
      </p:sp>
      <p:sp>
        <p:nvSpPr>
          <p:cNvPr id="4" name="TextBox 3"/>
          <p:cNvSpPr txBox="1"/>
          <p:nvPr/>
        </p:nvSpPr>
        <p:spPr>
          <a:xfrm>
            <a:off x="566928" y="530352"/>
            <a:ext cx="10972800" cy="594360"/>
          </a:xfrm>
          <a:prstGeom prst="rect">
            <a:avLst/>
          </a:prstGeom>
          <a:noFill/>
        </p:spPr>
        <p:txBody>
          <a:bodyPr wrap="square" anchor="ctr">
            <a:spAutoFit/>
          </a:bodyPr>
          <a:lstStyle/>
          <a:p>
            <a:pPr algn="l">
              <a:defRPr sz="2700" b="1">
                <a:solidFill>
                  <a:srgbClr val="102A43"/>
                </a:solidFill>
                <a:latin typeface="Aptos"/>
              </a:defRPr>
            </a:pPr>
            <a:r>
              <a:t>Projected inventory is calculated in event order</a:t>
            </a:r>
          </a:p>
        </p:txBody>
      </p:sp>
      <p:sp>
        <p:nvSpPr>
          <p:cNvPr id="5" name="TextBox 4"/>
          <p:cNvSpPr txBox="1"/>
          <p:nvPr/>
        </p:nvSpPr>
        <p:spPr>
          <a:xfrm>
            <a:off x="576072" y="6547104"/>
            <a:ext cx="4754880" cy="182880"/>
          </a:xfrm>
          <a:prstGeom prst="rect">
            <a:avLst/>
          </a:prstGeom>
          <a:noFill/>
        </p:spPr>
        <p:txBody>
          <a:bodyPr wrap="square" anchor="ctr">
            <a:spAutoFit/>
          </a:bodyPr>
          <a:lstStyle/>
          <a:p>
            <a:pPr algn="l">
              <a:defRPr sz="900" b="0">
                <a:solidFill>
                  <a:srgbClr val="627D98"/>
                </a:solidFill>
                <a:latin typeface="Aptos"/>
              </a:defRPr>
            </a:pPr>
            <a:r>
              <a:t>CS-675 Big Data Management  |  Shuhao Lin</a:t>
            </a:r>
          </a:p>
        </p:txBody>
      </p:sp>
      <p:sp>
        <p:nvSpPr>
          <p:cNvPr id="6" name="TextBox 5"/>
          <p:cNvSpPr txBox="1"/>
          <p:nvPr/>
        </p:nvSpPr>
        <p:spPr>
          <a:xfrm>
            <a:off x="11201400" y="6547104"/>
            <a:ext cx="365760" cy="182880"/>
          </a:xfrm>
          <a:prstGeom prst="rect">
            <a:avLst/>
          </a:prstGeom>
          <a:noFill/>
        </p:spPr>
        <p:txBody>
          <a:bodyPr wrap="square" anchor="ctr">
            <a:spAutoFit/>
          </a:bodyPr>
          <a:lstStyle/>
          <a:p>
            <a:pPr algn="r">
              <a:defRPr sz="900" b="0">
                <a:solidFill>
                  <a:srgbClr val="627D98"/>
                </a:solidFill>
                <a:latin typeface="Aptos"/>
              </a:defRPr>
            </a:pPr>
            <a:r>
              <a:t>4</a:t>
            </a:r>
          </a:p>
        </p:txBody>
      </p:sp>
      <p:sp>
        <p:nvSpPr>
          <p:cNvPr id="7" name="TextBox 6"/>
          <p:cNvSpPr txBox="1"/>
          <p:nvPr/>
        </p:nvSpPr>
        <p:spPr>
          <a:xfrm>
            <a:off x="731520" y="1417320"/>
            <a:ext cx="2743200" cy="457200"/>
          </a:xfrm>
          <a:prstGeom prst="rect">
            <a:avLst/>
          </a:prstGeom>
          <a:noFill/>
        </p:spPr>
        <p:txBody>
          <a:bodyPr wrap="square" anchor="ctr">
            <a:spAutoFit/>
          </a:bodyPr>
          <a:lstStyle/>
          <a:p>
            <a:pPr algn="l">
              <a:defRPr sz="1900" b="1">
                <a:solidFill>
                  <a:srgbClr val="102A43"/>
                </a:solidFill>
                <a:latin typeface="Aptos"/>
              </a:defRPr>
            </a:pPr>
            <a:r>
              <a:t>Projected inventory</a:t>
            </a:r>
          </a:p>
        </p:txBody>
      </p:sp>
      <p:sp>
        <p:nvSpPr>
          <p:cNvPr id="8" name="TextBox 7"/>
          <p:cNvSpPr txBox="1"/>
          <p:nvPr/>
        </p:nvSpPr>
        <p:spPr>
          <a:xfrm>
            <a:off x="3291840" y="1417320"/>
            <a:ext cx="8046720" cy="457200"/>
          </a:xfrm>
          <a:prstGeom prst="rect">
            <a:avLst/>
          </a:prstGeom>
          <a:noFill/>
        </p:spPr>
        <p:txBody>
          <a:bodyPr wrap="square" anchor="ctr">
            <a:spAutoFit/>
          </a:bodyPr>
          <a:lstStyle/>
          <a:p>
            <a:pPr algn="l">
              <a:defRPr sz="2000" b="1">
                <a:solidFill>
                  <a:srgbClr val="1976D2"/>
                </a:solidFill>
                <a:latin typeface="Aptos"/>
              </a:defRPr>
            </a:pPr>
            <a:r>
              <a:t>= current inventory + cumulative inbound − cumulative outbound</a:t>
            </a:r>
          </a:p>
        </p:txBody>
      </p:sp>
      <p:sp>
        <p:nvSpPr>
          <p:cNvPr id="9" name="Rounded Rectangle 8"/>
          <p:cNvSpPr/>
          <p:nvPr/>
        </p:nvSpPr>
        <p:spPr>
          <a:xfrm>
            <a:off x="731520" y="2331720"/>
            <a:ext cx="2331720" cy="132588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331720"/>
            <a:ext cx="73152" cy="132588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450591"/>
            <a:ext cx="1947672" cy="365760"/>
          </a:xfrm>
          <a:prstGeom prst="rect">
            <a:avLst/>
          </a:prstGeom>
          <a:noFill/>
        </p:spPr>
        <p:txBody>
          <a:bodyPr wrap="square" anchor="ctr">
            <a:spAutoFit/>
          </a:bodyPr>
          <a:lstStyle/>
          <a:p>
            <a:pPr algn="l">
              <a:defRPr sz="1500" b="1">
                <a:solidFill>
                  <a:srgbClr val="102A43"/>
                </a:solidFill>
                <a:latin typeface="Aptos"/>
              </a:defRPr>
            </a:pPr>
            <a:r>
              <a:t>TODAY</a:t>
            </a:r>
          </a:p>
        </p:txBody>
      </p:sp>
      <p:sp>
        <p:nvSpPr>
          <p:cNvPr id="12" name="TextBox 11"/>
          <p:cNvSpPr txBox="1"/>
          <p:nvPr/>
        </p:nvSpPr>
        <p:spPr>
          <a:xfrm>
            <a:off x="960120" y="2862072"/>
            <a:ext cx="1947672" cy="685800"/>
          </a:xfrm>
          <a:prstGeom prst="rect">
            <a:avLst/>
          </a:prstGeom>
          <a:noFill/>
        </p:spPr>
        <p:txBody>
          <a:bodyPr wrap="square" anchor="ctr">
            <a:spAutoFit/>
          </a:bodyPr>
          <a:lstStyle/>
          <a:p>
            <a:pPr algn="l">
              <a:defRPr sz="1300" b="0">
                <a:solidFill>
                  <a:srgbClr val="627D98"/>
                </a:solidFill>
                <a:latin typeface="Aptos"/>
              </a:defRPr>
            </a:pPr>
            <a:r>
              <a:t>20 pallets available</a:t>
            </a:r>
          </a:p>
        </p:txBody>
      </p:sp>
      <p:sp>
        <p:nvSpPr>
          <p:cNvPr id="13" name="TextBox 12"/>
          <p:cNvSpPr txBox="1"/>
          <p:nvPr/>
        </p:nvSpPr>
        <p:spPr>
          <a:xfrm>
            <a:off x="3172968" y="2679192"/>
            <a:ext cx="411480" cy="320040"/>
          </a:xfrm>
          <a:prstGeom prst="rect">
            <a:avLst/>
          </a:prstGeom>
          <a:noFill/>
        </p:spPr>
        <p:txBody>
          <a:bodyPr wrap="square" anchor="ctr">
            <a:spAutoFit/>
          </a:bodyPr>
          <a:lstStyle/>
          <a:p>
            <a:pPr algn="ctr">
              <a:defRPr sz="2400" b="1">
                <a:solidFill>
                  <a:srgbClr val="627D98"/>
                </a:solidFill>
                <a:latin typeface="Aptos"/>
              </a:defRPr>
            </a:pPr>
            <a:r>
              <a:t>→</a:t>
            </a:r>
          </a:p>
        </p:txBody>
      </p:sp>
      <p:sp>
        <p:nvSpPr>
          <p:cNvPr id="14" name="Rounded Rectangle 13"/>
          <p:cNvSpPr/>
          <p:nvPr/>
        </p:nvSpPr>
        <p:spPr>
          <a:xfrm>
            <a:off x="3657600" y="2331720"/>
            <a:ext cx="2331720" cy="132588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0" y="2331720"/>
            <a:ext cx="73152" cy="132588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86200" y="2450591"/>
            <a:ext cx="1947672" cy="365760"/>
          </a:xfrm>
          <a:prstGeom prst="rect">
            <a:avLst/>
          </a:prstGeom>
          <a:noFill/>
        </p:spPr>
        <p:txBody>
          <a:bodyPr wrap="square" anchor="ctr">
            <a:spAutoFit/>
          </a:bodyPr>
          <a:lstStyle/>
          <a:p>
            <a:pPr algn="l">
              <a:defRPr sz="1500" b="1">
                <a:solidFill>
                  <a:srgbClr val="102A43"/>
                </a:solidFill>
                <a:latin typeface="Aptos"/>
              </a:defRPr>
            </a:pPr>
            <a:r>
              <a:t>OUTBOUND: 15</a:t>
            </a:r>
          </a:p>
        </p:txBody>
      </p:sp>
      <p:sp>
        <p:nvSpPr>
          <p:cNvPr id="17" name="TextBox 16"/>
          <p:cNvSpPr txBox="1"/>
          <p:nvPr/>
        </p:nvSpPr>
        <p:spPr>
          <a:xfrm>
            <a:off x="3886200" y="2862072"/>
            <a:ext cx="1947672" cy="685800"/>
          </a:xfrm>
          <a:prstGeom prst="rect">
            <a:avLst/>
          </a:prstGeom>
          <a:noFill/>
        </p:spPr>
        <p:txBody>
          <a:bodyPr wrap="square" anchor="ctr">
            <a:spAutoFit/>
          </a:bodyPr>
          <a:lstStyle/>
          <a:p>
            <a:pPr algn="l">
              <a:defRPr sz="1300" b="0">
                <a:solidFill>
                  <a:srgbClr val="627D98"/>
                </a:solidFill>
                <a:latin typeface="Aptos"/>
              </a:defRPr>
            </a:pPr>
            <a:r>
              <a:t>5 pallets remain</a:t>
            </a:r>
          </a:p>
        </p:txBody>
      </p:sp>
      <p:sp>
        <p:nvSpPr>
          <p:cNvPr id="18" name="TextBox 17"/>
          <p:cNvSpPr txBox="1"/>
          <p:nvPr/>
        </p:nvSpPr>
        <p:spPr>
          <a:xfrm>
            <a:off x="6099048" y="2679192"/>
            <a:ext cx="411480" cy="320040"/>
          </a:xfrm>
          <a:prstGeom prst="rect">
            <a:avLst/>
          </a:prstGeom>
          <a:noFill/>
        </p:spPr>
        <p:txBody>
          <a:bodyPr wrap="square" anchor="ctr">
            <a:spAutoFit/>
          </a:bodyPr>
          <a:lstStyle/>
          <a:p>
            <a:pPr algn="ctr">
              <a:defRPr sz="2400" b="1">
                <a:solidFill>
                  <a:srgbClr val="627D98"/>
                </a:solidFill>
                <a:latin typeface="Aptos"/>
              </a:defRPr>
            </a:pPr>
            <a:r>
              <a:t>→</a:t>
            </a:r>
          </a:p>
        </p:txBody>
      </p:sp>
      <p:sp>
        <p:nvSpPr>
          <p:cNvPr id="19" name="Rounded Rectangle 18"/>
          <p:cNvSpPr/>
          <p:nvPr/>
        </p:nvSpPr>
        <p:spPr>
          <a:xfrm>
            <a:off x="6583680" y="2331720"/>
            <a:ext cx="2331720" cy="132588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0" y="2331720"/>
            <a:ext cx="73152" cy="132588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12280" y="2450591"/>
            <a:ext cx="1947672" cy="365760"/>
          </a:xfrm>
          <a:prstGeom prst="rect">
            <a:avLst/>
          </a:prstGeom>
          <a:noFill/>
        </p:spPr>
        <p:txBody>
          <a:bodyPr wrap="square" anchor="ctr">
            <a:spAutoFit/>
          </a:bodyPr>
          <a:lstStyle/>
          <a:p>
            <a:pPr algn="l">
              <a:defRPr sz="1500" b="1">
                <a:solidFill>
                  <a:srgbClr val="102A43"/>
                </a:solidFill>
                <a:latin typeface="Aptos"/>
              </a:defRPr>
            </a:pPr>
            <a:r>
              <a:t>INBOUND: 10</a:t>
            </a:r>
          </a:p>
        </p:txBody>
      </p:sp>
      <p:sp>
        <p:nvSpPr>
          <p:cNvPr id="22" name="TextBox 21"/>
          <p:cNvSpPr txBox="1"/>
          <p:nvPr/>
        </p:nvSpPr>
        <p:spPr>
          <a:xfrm>
            <a:off x="6812280" y="2862072"/>
            <a:ext cx="1947672" cy="685800"/>
          </a:xfrm>
          <a:prstGeom prst="rect">
            <a:avLst/>
          </a:prstGeom>
          <a:noFill/>
        </p:spPr>
        <p:txBody>
          <a:bodyPr wrap="square" anchor="ctr">
            <a:spAutoFit/>
          </a:bodyPr>
          <a:lstStyle/>
          <a:p>
            <a:pPr algn="l">
              <a:defRPr sz="1300" b="0">
                <a:solidFill>
                  <a:srgbClr val="627D98"/>
                </a:solidFill>
                <a:latin typeface="Aptos"/>
              </a:defRPr>
            </a:pPr>
            <a:r>
              <a:t>15 pallets available</a:t>
            </a:r>
          </a:p>
        </p:txBody>
      </p:sp>
      <p:sp>
        <p:nvSpPr>
          <p:cNvPr id="23" name="TextBox 22"/>
          <p:cNvSpPr txBox="1"/>
          <p:nvPr/>
        </p:nvSpPr>
        <p:spPr>
          <a:xfrm>
            <a:off x="9025128" y="2679192"/>
            <a:ext cx="411480" cy="320040"/>
          </a:xfrm>
          <a:prstGeom prst="rect">
            <a:avLst/>
          </a:prstGeom>
          <a:noFill/>
        </p:spPr>
        <p:txBody>
          <a:bodyPr wrap="square" anchor="ctr">
            <a:spAutoFit/>
          </a:bodyPr>
          <a:lstStyle/>
          <a:p>
            <a:pPr algn="ctr">
              <a:defRPr sz="2400" b="1">
                <a:solidFill>
                  <a:srgbClr val="627D98"/>
                </a:solidFill>
                <a:latin typeface="Aptos"/>
              </a:defRPr>
            </a:pPr>
            <a:r>
              <a:t>→</a:t>
            </a:r>
          </a:p>
        </p:txBody>
      </p:sp>
      <p:sp>
        <p:nvSpPr>
          <p:cNvPr id="24" name="Rounded Rectangle 23"/>
          <p:cNvSpPr/>
          <p:nvPr/>
        </p:nvSpPr>
        <p:spPr>
          <a:xfrm>
            <a:off x="9509760" y="2331720"/>
            <a:ext cx="1965960" cy="132588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09760" y="2331720"/>
            <a:ext cx="73152" cy="1325880"/>
          </a:xfrm>
          <a:prstGeom prst="rect">
            <a:avLst/>
          </a:prstGeom>
          <a:solidFill>
            <a:srgbClr val="D64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38360" y="2450591"/>
            <a:ext cx="1581912" cy="365760"/>
          </a:xfrm>
          <a:prstGeom prst="rect">
            <a:avLst/>
          </a:prstGeom>
          <a:noFill/>
        </p:spPr>
        <p:txBody>
          <a:bodyPr wrap="square" anchor="ctr">
            <a:spAutoFit/>
          </a:bodyPr>
          <a:lstStyle/>
          <a:p>
            <a:pPr algn="l">
              <a:defRPr sz="1500" b="1">
                <a:solidFill>
                  <a:srgbClr val="102A43"/>
                </a:solidFill>
                <a:latin typeface="Aptos"/>
              </a:defRPr>
            </a:pPr>
            <a:r>
              <a:t>OUTBOUND: 18</a:t>
            </a:r>
          </a:p>
        </p:txBody>
      </p:sp>
      <p:sp>
        <p:nvSpPr>
          <p:cNvPr id="27" name="TextBox 26"/>
          <p:cNvSpPr txBox="1"/>
          <p:nvPr/>
        </p:nvSpPr>
        <p:spPr>
          <a:xfrm>
            <a:off x="9738360" y="2862072"/>
            <a:ext cx="1581912" cy="685800"/>
          </a:xfrm>
          <a:prstGeom prst="rect">
            <a:avLst/>
          </a:prstGeom>
          <a:noFill/>
        </p:spPr>
        <p:txBody>
          <a:bodyPr wrap="square" anchor="ctr">
            <a:spAutoFit/>
          </a:bodyPr>
          <a:lstStyle/>
          <a:p>
            <a:pPr algn="l">
              <a:defRPr sz="1300" b="0">
                <a:solidFill>
                  <a:srgbClr val="627D98"/>
                </a:solidFill>
                <a:latin typeface="Aptos"/>
              </a:defRPr>
            </a:pPr>
            <a:r>
              <a:t>Short by 3 pallets</a:t>
            </a:r>
          </a:p>
        </p:txBody>
      </p:sp>
      <p:sp>
        <p:nvSpPr>
          <p:cNvPr id="28" name="TextBox 27"/>
          <p:cNvSpPr txBox="1"/>
          <p:nvPr/>
        </p:nvSpPr>
        <p:spPr>
          <a:xfrm>
            <a:off x="777240" y="4251960"/>
            <a:ext cx="10607040" cy="640080"/>
          </a:xfrm>
          <a:prstGeom prst="rect">
            <a:avLst/>
          </a:prstGeom>
          <a:noFill/>
        </p:spPr>
        <p:txBody>
          <a:bodyPr wrap="square" anchor="ctr">
            <a:spAutoFit/>
          </a:bodyPr>
          <a:lstStyle/>
          <a:p>
            <a:pPr algn="ctr">
              <a:defRPr sz="1900" b="1">
                <a:solidFill>
                  <a:srgbClr val="102A43"/>
                </a:solidFill>
                <a:latin typeface="Aptos"/>
              </a:defRPr>
            </a:pPr>
            <a:r>
              <a:t>Missing pallets = max(order quantity − inventory available before order, 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28600"/>
            <a:ext cx="10972800" cy="274320"/>
          </a:xfrm>
          <a:prstGeom prst="rect">
            <a:avLst/>
          </a:prstGeom>
          <a:noFill/>
        </p:spPr>
        <p:txBody>
          <a:bodyPr wrap="square" anchor="ctr">
            <a:spAutoFit/>
          </a:bodyPr>
          <a:lstStyle/>
          <a:p>
            <a:pPr algn="l">
              <a:defRPr sz="1000" b="1">
                <a:solidFill>
                  <a:srgbClr val="00A6A6"/>
                </a:solidFill>
                <a:latin typeface="Aptos"/>
              </a:defRPr>
            </a:pPr>
            <a:r>
              <a:t>DECISION LOGIC</a:t>
            </a:r>
          </a:p>
        </p:txBody>
      </p:sp>
      <p:sp>
        <p:nvSpPr>
          <p:cNvPr id="4" name="TextBox 3"/>
          <p:cNvSpPr txBox="1"/>
          <p:nvPr/>
        </p:nvSpPr>
        <p:spPr>
          <a:xfrm>
            <a:off x="566928" y="530352"/>
            <a:ext cx="10972800" cy="594360"/>
          </a:xfrm>
          <a:prstGeom prst="rect">
            <a:avLst/>
          </a:prstGeom>
          <a:noFill/>
        </p:spPr>
        <p:txBody>
          <a:bodyPr wrap="square" anchor="ctr">
            <a:spAutoFit/>
          </a:bodyPr>
          <a:lstStyle/>
          <a:p>
            <a:pPr algn="l">
              <a:defRPr sz="2700" b="1">
                <a:solidFill>
                  <a:srgbClr val="102A43"/>
                </a:solidFill>
                <a:latin typeface="Aptos"/>
              </a:defRPr>
            </a:pPr>
            <a:r>
              <a:t>Every outbound order receives an actionable status</a:t>
            </a:r>
          </a:p>
        </p:txBody>
      </p:sp>
      <p:sp>
        <p:nvSpPr>
          <p:cNvPr id="5" name="TextBox 4"/>
          <p:cNvSpPr txBox="1"/>
          <p:nvPr/>
        </p:nvSpPr>
        <p:spPr>
          <a:xfrm>
            <a:off x="576072" y="6547104"/>
            <a:ext cx="4754880" cy="182880"/>
          </a:xfrm>
          <a:prstGeom prst="rect">
            <a:avLst/>
          </a:prstGeom>
          <a:noFill/>
        </p:spPr>
        <p:txBody>
          <a:bodyPr wrap="square" anchor="ctr">
            <a:spAutoFit/>
          </a:bodyPr>
          <a:lstStyle/>
          <a:p>
            <a:pPr algn="l">
              <a:defRPr sz="900" b="0">
                <a:solidFill>
                  <a:srgbClr val="627D98"/>
                </a:solidFill>
                <a:latin typeface="Aptos"/>
              </a:defRPr>
            </a:pPr>
            <a:r>
              <a:t>CS-675 Big Data Management  |  Shuhao Lin</a:t>
            </a:r>
          </a:p>
        </p:txBody>
      </p:sp>
      <p:sp>
        <p:nvSpPr>
          <p:cNvPr id="6" name="TextBox 5"/>
          <p:cNvSpPr txBox="1"/>
          <p:nvPr/>
        </p:nvSpPr>
        <p:spPr>
          <a:xfrm>
            <a:off x="11201400" y="6547104"/>
            <a:ext cx="365760" cy="182880"/>
          </a:xfrm>
          <a:prstGeom prst="rect">
            <a:avLst/>
          </a:prstGeom>
          <a:noFill/>
        </p:spPr>
        <p:txBody>
          <a:bodyPr wrap="square" anchor="ctr">
            <a:spAutoFit/>
          </a:bodyPr>
          <a:lstStyle/>
          <a:p>
            <a:pPr algn="r">
              <a:defRPr sz="900" b="0">
                <a:solidFill>
                  <a:srgbClr val="627D98"/>
                </a:solidFill>
                <a:latin typeface="Aptos"/>
              </a:defRPr>
            </a:pPr>
            <a:r>
              <a:t>5</a:t>
            </a:r>
          </a:p>
        </p:txBody>
      </p:sp>
      <p:sp>
        <p:nvSpPr>
          <p:cNvPr id="7" name="Rounded Rectangle 6"/>
          <p:cNvSpPr/>
          <p:nvPr/>
        </p:nvSpPr>
        <p:spPr>
          <a:xfrm>
            <a:off x="640080" y="1417320"/>
            <a:ext cx="5303520" cy="141732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417320"/>
            <a:ext cx="73152" cy="141732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36192"/>
            <a:ext cx="4919472" cy="365760"/>
          </a:xfrm>
          <a:prstGeom prst="rect">
            <a:avLst/>
          </a:prstGeom>
          <a:noFill/>
        </p:spPr>
        <p:txBody>
          <a:bodyPr wrap="square" anchor="ctr">
            <a:spAutoFit/>
          </a:bodyPr>
          <a:lstStyle/>
          <a:p>
            <a:pPr algn="l">
              <a:defRPr sz="1500" b="1">
                <a:solidFill>
                  <a:srgbClr val="102A43"/>
                </a:solidFill>
                <a:latin typeface="Aptos"/>
              </a:defRPr>
            </a:pPr>
            <a:r>
              <a:t>READY</a:t>
            </a:r>
          </a:p>
        </p:txBody>
      </p:sp>
      <p:sp>
        <p:nvSpPr>
          <p:cNvPr id="10" name="TextBox 9"/>
          <p:cNvSpPr txBox="1"/>
          <p:nvPr/>
        </p:nvSpPr>
        <p:spPr>
          <a:xfrm>
            <a:off x="868680" y="1947672"/>
            <a:ext cx="4919472" cy="777240"/>
          </a:xfrm>
          <a:prstGeom prst="rect">
            <a:avLst/>
          </a:prstGeom>
          <a:noFill/>
        </p:spPr>
        <p:txBody>
          <a:bodyPr wrap="square" anchor="ctr">
            <a:spAutoFit/>
          </a:bodyPr>
          <a:lstStyle/>
          <a:p>
            <a:pPr algn="l">
              <a:defRPr sz="1300" b="0">
                <a:solidFill>
                  <a:srgbClr val="627D98"/>
                </a:solidFill>
                <a:latin typeface="Aptos"/>
              </a:defRPr>
            </a:pPr>
            <a:r>
              <a:t>Enough inventory exists and the remaining balance stays at or above safety stock.</a:t>
            </a:r>
          </a:p>
        </p:txBody>
      </p:sp>
      <p:sp>
        <p:nvSpPr>
          <p:cNvPr id="11" name="Rounded Rectangle 10"/>
          <p:cNvSpPr/>
          <p:nvPr/>
        </p:nvSpPr>
        <p:spPr>
          <a:xfrm>
            <a:off x="6217920" y="1417320"/>
            <a:ext cx="5303520" cy="141732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417320"/>
            <a:ext cx="73152" cy="1417320"/>
          </a:xfrm>
          <a:prstGeom prst="rect">
            <a:avLst/>
          </a:prstGeom>
          <a:solidFill>
            <a:srgbClr val="F39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536192"/>
            <a:ext cx="4919472" cy="365760"/>
          </a:xfrm>
          <a:prstGeom prst="rect">
            <a:avLst/>
          </a:prstGeom>
          <a:noFill/>
        </p:spPr>
        <p:txBody>
          <a:bodyPr wrap="square" anchor="ctr">
            <a:spAutoFit/>
          </a:bodyPr>
          <a:lstStyle/>
          <a:p>
            <a:pPr algn="l">
              <a:defRPr sz="1500" b="1">
                <a:solidFill>
                  <a:srgbClr val="102A43"/>
                </a:solidFill>
                <a:latin typeface="Aptos"/>
              </a:defRPr>
            </a:pPr>
            <a:r>
              <a:t>AT RISK</a:t>
            </a:r>
          </a:p>
        </p:txBody>
      </p:sp>
      <p:sp>
        <p:nvSpPr>
          <p:cNvPr id="14" name="TextBox 13"/>
          <p:cNvSpPr txBox="1"/>
          <p:nvPr/>
        </p:nvSpPr>
        <p:spPr>
          <a:xfrm>
            <a:off x="6446520" y="1947672"/>
            <a:ext cx="4919472" cy="777240"/>
          </a:xfrm>
          <a:prstGeom prst="rect">
            <a:avLst/>
          </a:prstGeom>
          <a:noFill/>
        </p:spPr>
        <p:txBody>
          <a:bodyPr wrap="square" anchor="ctr">
            <a:spAutoFit/>
          </a:bodyPr>
          <a:lstStyle/>
          <a:p>
            <a:pPr algn="l">
              <a:defRPr sz="1300" b="0">
                <a:solidFill>
                  <a:srgbClr val="627D98"/>
                </a:solidFill>
                <a:latin typeface="Aptos"/>
              </a:defRPr>
            </a:pPr>
            <a:r>
              <a:t>The order can be filled, but remaining inventory falls below the product safety-stock threshold.</a:t>
            </a:r>
          </a:p>
        </p:txBody>
      </p:sp>
      <p:sp>
        <p:nvSpPr>
          <p:cNvPr id="15" name="Rounded Rectangle 14"/>
          <p:cNvSpPr/>
          <p:nvPr/>
        </p:nvSpPr>
        <p:spPr>
          <a:xfrm>
            <a:off x="640080" y="3246120"/>
            <a:ext cx="5303520" cy="141732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246120"/>
            <a:ext cx="73152" cy="141732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364991"/>
            <a:ext cx="4919472" cy="365760"/>
          </a:xfrm>
          <a:prstGeom prst="rect">
            <a:avLst/>
          </a:prstGeom>
          <a:noFill/>
        </p:spPr>
        <p:txBody>
          <a:bodyPr wrap="square" anchor="ctr">
            <a:spAutoFit/>
          </a:bodyPr>
          <a:lstStyle/>
          <a:p>
            <a:pPr algn="l">
              <a:defRPr sz="1500" b="1">
                <a:solidFill>
                  <a:srgbClr val="102A43"/>
                </a:solidFill>
                <a:latin typeface="Aptos"/>
              </a:defRPr>
            </a:pPr>
            <a:r>
              <a:t>WAITING FOR INBOUND</a:t>
            </a:r>
          </a:p>
        </p:txBody>
      </p:sp>
      <p:sp>
        <p:nvSpPr>
          <p:cNvPr id="18" name="TextBox 17"/>
          <p:cNvSpPr txBox="1"/>
          <p:nvPr/>
        </p:nvSpPr>
        <p:spPr>
          <a:xfrm>
            <a:off x="868680" y="3776472"/>
            <a:ext cx="4919472" cy="777240"/>
          </a:xfrm>
          <a:prstGeom prst="rect">
            <a:avLst/>
          </a:prstGeom>
          <a:noFill/>
        </p:spPr>
        <p:txBody>
          <a:bodyPr wrap="square" anchor="ctr">
            <a:spAutoFit/>
          </a:bodyPr>
          <a:lstStyle/>
          <a:p>
            <a:pPr algn="l">
              <a:defRPr sz="1300" b="0">
                <a:solidFill>
                  <a:srgbClr val="627D98"/>
                </a:solidFill>
                <a:latin typeface="Aptos"/>
              </a:defRPr>
            </a:pPr>
            <a:r>
              <a:t>The order is short on its scheduled date, but a later planned inbound is expected to cover it.</a:t>
            </a:r>
          </a:p>
        </p:txBody>
      </p:sp>
      <p:sp>
        <p:nvSpPr>
          <p:cNvPr id="19" name="Rounded Rectangle 18"/>
          <p:cNvSpPr/>
          <p:nvPr/>
        </p:nvSpPr>
        <p:spPr>
          <a:xfrm>
            <a:off x="6217920" y="3246120"/>
            <a:ext cx="5303520" cy="141732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3246120"/>
            <a:ext cx="73152" cy="1417320"/>
          </a:xfrm>
          <a:prstGeom prst="rect">
            <a:avLst/>
          </a:prstGeom>
          <a:solidFill>
            <a:srgbClr val="D64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3364991"/>
            <a:ext cx="4919472" cy="365760"/>
          </a:xfrm>
          <a:prstGeom prst="rect">
            <a:avLst/>
          </a:prstGeom>
          <a:noFill/>
        </p:spPr>
        <p:txBody>
          <a:bodyPr wrap="square" anchor="ctr">
            <a:spAutoFit/>
          </a:bodyPr>
          <a:lstStyle/>
          <a:p>
            <a:pPr algn="l">
              <a:defRPr sz="1500" b="1">
                <a:solidFill>
                  <a:srgbClr val="102A43"/>
                </a:solidFill>
                <a:latin typeface="Aptos"/>
              </a:defRPr>
            </a:pPr>
            <a:r>
              <a:t>SHORT</a:t>
            </a:r>
          </a:p>
        </p:txBody>
      </p:sp>
      <p:sp>
        <p:nvSpPr>
          <p:cNvPr id="22" name="TextBox 21"/>
          <p:cNvSpPr txBox="1"/>
          <p:nvPr/>
        </p:nvSpPr>
        <p:spPr>
          <a:xfrm>
            <a:off x="6446520" y="3776472"/>
            <a:ext cx="4919472" cy="777240"/>
          </a:xfrm>
          <a:prstGeom prst="rect">
            <a:avLst/>
          </a:prstGeom>
          <a:noFill/>
        </p:spPr>
        <p:txBody>
          <a:bodyPr wrap="square" anchor="ctr">
            <a:spAutoFit/>
          </a:bodyPr>
          <a:lstStyle/>
          <a:p>
            <a:pPr algn="l">
              <a:defRPr sz="1300" b="0">
                <a:solidFill>
                  <a:srgbClr val="627D98"/>
                </a:solidFill>
                <a:latin typeface="Aptos"/>
              </a:defRPr>
            </a:pPr>
            <a:r>
              <a:t>The order lacks inventory and no known inbound covers the shortage within the planning horizon.</a:t>
            </a:r>
          </a:p>
        </p:txBody>
      </p:sp>
      <p:sp>
        <p:nvSpPr>
          <p:cNvPr id="23" name="TextBox 22"/>
          <p:cNvSpPr txBox="1"/>
          <p:nvPr/>
        </p:nvSpPr>
        <p:spPr>
          <a:xfrm>
            <a:off x="777240" y="5257800"/>
            <a:ext cx="10607040" cy="502920"/>
          </a:xfrm>
          <a:prstGeom prst="rect">
            <a:avLst/>
          </a:prstGeom>
          <a:noFill/>
        </p:spPr>
        <p:txBody>
          <a:bodyPr wrap="square" anchor="ctr">
            <a:spAutoFit/>
          </a:bodyPr>
          <a:lstStyle/>
          <a:p>
            <a:pPr algn="ctr">
              <a:defRPr sz="1500" b="0">
                <a:solidFill>
                  <a:srgbClr val="627D98"/>
                </a:solidFill>
                <a:latin typeface="Aptos"/>
              </a:defRPr>
            </a:pPr>
            <a:r>
              <a:t>The earliest-available date is an expectation—not a guarantee—because inbound shipments can be delayed.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28600"/>
            <a:ext cx="10972800" cy="274320"/>
          </a:xfrm>
          <a:prstGeom prst="rect">
            <a:avLst/>
          </a:prstGeom>
          <a:noFill/>
        </p:spPr>
        <p:txBody>
          <a:bodyPr wrap="square" anchor="ctr">
            <a:spAutoFit/>
          </a:bodyPr>
          <a:lstStyle/>
          <a:p>
            <a:pPr algn="l">
              <a:defRPr sz="1000" b="1">
                <a:solidFill>
                  <a:srgbClr val="00A6A6"/>
                </a:solidFill>
                <a:latin typeface="Aptos"/>
              </a:defRPr>
            </a:pPr>
            <a:r>
              <a:t>PROCESSING PIPELINE</a:t>
            </a:r>
          </a:p>
        </p:txBody>
      </p:sp>
      <p:sp>
        <p:nvSpPr>
          <p:cNvPr id="4" name="TextBox 3"/>
          <p:cNvSpPr txBox="1"/>
          <p:nvPr/>
        </p:nvSpPr>
        <p:spPr>
          <a:xfrm>
            <a:off x="566928" y="530352"/>
            <a:ext cx="10972800" cy="594360"/>
          </a:xfrm>
          <a:prstGeom prst="rect">
            <a:avLst/>
          </a:prstGeom>
          <a:noFill/>
        </p:spPr>
        <p:txBody>
          <a:bodyPr wrap="square" anchor="ctr">
            <a:spAutoFit/>
          </a:bodyPr>
          <a:lstStyle/>
          <a:p>
            <a:pPr algn="l">
              <a:defRPr sz="2700" b="1">
                <a:solidFill>
                  <a:srgbClr val="102A43"/>
                </a:solidFill>
                <a:latin typeface="Aptos"/>
              </a:defRPr>
            </a:pPr>
            <a:r>
              <a:t>Spark converts raw records into trusted analytical data</a:t>
            </a:r>
          </a:p>
        </p:txBody>
      </p:sp>
      <p:sp>
        <p:nvSpPr>
          <p:cNvPr id="5" name="TextBox 4"/>
          <p:cNvSpPr txBox="1"/>
          <p:nvPr/>
        </p:nvSpPr>
        <p:spPr>
          <a:xfrm>
            <a:off x="576072" y="6547104"/>
            <a:ext cx="4754880" cy="182880"/>
          </a:xfrm>
          <a:prstGeom prst="rect">
            <a:avLst/>
          </a:prstGeom>
          <a:noFill/>
        </p:spPr>
        <p:txBody>
          <a:bodyPr wrap="square" anchor="ctr">
            <a:spAutoFit/>
          </a:bodyPr>
          <a:lstStyle/>
          <a:p>
            <a:pPr algn="l">
              <a:defRPr sz="900" b="0">
                <a:solidFill>
                  <a:srgbClr val="627D98"/>
                </a:solidFill>
                <a:latin typeface="Aptos"/>
              </a:defRPr>
            </a:pPr>
            <a:r>
              <a:t>CS-675 Big Data Management  |  Shuhao Lin</a:t>
            </a:r>
          </a:p>
        </p:txBody>
      </p:sp>
      <p:sp>
        <p:nvSpPr>
          <p:cNvPr id="6" name="TextBox 5"/>
          <p:cNvSpPr txBox="1"/>
          <p:nvPr/>
        </p:nvSpPr>
        <p:spPr>
          <a:xfrm>
            <a:off x="11201400" y="6547104"/>
            <a:ext cx="365760" cy="182880"/>
          </a:xfrm>
          <a:prstGeom prst="rect">
            <a:avLst/>
          </a:prstGeom>
          <a:noFill/>
        </p:spPr>
        <p:txBody>
          <a:bodyPr wrap="square" anchor="ctr">
            <a:spAutoFit/>
          </a:bodyPr>
          <a:lstStyle/>
          <a:p>
            <a:pPr algn="r">
              <a:defRPr sz="900" b="0">
                <a:solidFill>
                  <a:srgbClr val="627D98"/>
                </a:solidFill>
                <a:latin typeface="Aptos"/>
              </a:defRPr>
            </a:pPr>
            <a:r>
              <a:t>6</a:t>
            </a:r>
          </a:p>
        </p:txBody>
      </p:sp>
      <p:sp>
        <p:nvSpPr>
          <p:cNvPr id="7" name="Rounded Rectangle 6"/>
          <p:cNvSpPr/>
          <p:nvPr/>
        </p:nvSpPr>
        <p:spPr>
          <a:xfrm>
            <a:off x="502920" y="1828800"/>
            <a:ext cx="1691640" cy="141732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828800"/>
            <a:ext cx="73152" cy="141732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47672"/>
            <a:ext cx="1307592" cy="365760"/>
          </a:xfrm>
          <a:prstGeom prst="rect">
            <a:avLst/>
          </a:prstGeom>
          <a:noFill/>
        </p:spPr>
        <p:txBody>
          <a:bodyPr wrap="square" anchor="ctr">
            <a:spAutoFit/>
          </a:bodyPr>
          <a:lstStyle/>
          <a:p>
            <a:pPr algn="l">
              <a:defRPr sz="1500" b="1">
                <a:solidFill>
                  <a:srgbClr val="102A43"/>
                </a:solidFill>
                <a:latin typeface="Aptos"/>
              </a:defRPr>
            </a:pPr>
            <a:r>
              <a:t>1  INGEST</a:t>
            </a:r>
          </a:p>
        </p:txBody>
      </p:sp>
      <p:sp>
        <p:nvSpPr>
          <p:cNvPr id="10" name="TextBox 9"/>
          <p:cNvSpPr txBox="1"/>
          <p:nvPr/>
        </p:nvSpPr>
        <p:spPr>
          <a:xfrm>
            <a:off x="731520" y="2359152"/>
            <a:ext cx="1307592" cy="777240"/>
          </a:xfrm>
          <a:prstGeom prst="rect">
            <a:avLst/>
          </a:prstGeom>
          <a:noFill/>
        </p:spPr>
        <p:txBody>
          <a:bodyPr wrap="square" anchor="ctr">
            <a:spAutoFit/>
          </a:bodyPr>
          <a:lstStyle/>
          <a:p>
            <a:pPr algn="l">
              <a:defRPr sz="1300" b="0">
                <a:solidFill>
                  <a:srgbClr val="627D98"/>
                </a:solidFill>
                <a:latin typeface="Aptos"/>
              </a:defRPr>
            </a:pPr>
            <a:r>
              <a:t>Explicit CSV schemas</a:t>
            </a:r>
          </a:p>
        </p:txBody>
      </p:sp>
      <p:sp>
        <p:nvSpPr>
          <p:cNvPr id="11" name="TextBox 10"/>
          <p:cNvSpPr txBox="1"/>
          <p:nvPr/>
        </p:nvSpPr>
        <p:spPr>
          <a:xfrm>
            <a:off x="2194560" y="2331720"/>
            <a:ext cx="228600" cy="228600"/>
          </a:xfrm>
          <a:prstGeom prst="rect">
            <a:avLst/>
          </a:prstGeom>
          <a:noFill/>
        </p:spPr>
        <p:txBody>
          <a:bodyPr wrap="square" anchor="ctr">
            <a:spAutoFit/>
          </a:bodyPr>
          <a:lstStyle/>
          <a:p>
            <a:pPr algn="ctr">
              <a:defRPr sz="1700" b="1">
                <a:solidFill>
                  <a:srgbClr val="627D98"/>
                </a:solidFill>
                <a:latin typeface="Aptos"/>
              </a:defRPr>
            </a:pPr>
            <a:r>
              <a:t>→</a:t>
            </a:r>
          </a:p>
        </p:txBody>
      </p:sp>
      <p:sp>
        <p:nvSpPr>
          <p:cNvPr id="12" name="Rounded Rectangle 11"/>
          <p:cNvSpPr/>
          <p:nvPr/>
        </p:nvSpPr>
        <p:spPr>
          <a:xfrm>
            <a:off x="2423160" y="1828800"/>
            <a:ext cx="1691640" cy="141732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23160" y="1828800"/>
            <a:ext cx="73152" cy="141732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51760" y="1947672"/>
            <a:ext cx="1307592" cy="365760"/>
          </a:xfrm>
          <a:prstGeom prst="rect">
            <a:avLst/>
          </a:prstGeom>
          <a:noFill/>
        </p:spPr>
        <p:txBody>
          <a:bodyPr wrap="square" anchor="ctr">
            <a:spAutoFit/>
          </a:bodyPr>
          <a:lstStyle/>
          <a:p>
            <a:pPr algn="l">
              <a:defRPr sz="1500" b="1">
                <a:solidFill>
                  <a:srgbClr val="102A43"/>
                </a:solidFill>
                <a:latin typeface="Aptos"/>
              </a:defRPr>
            </a:pPr>
            <a:r>
              <a:t>2  VALIDATE</a:t>
            </a:r>
          </a:p>
        </p:txBody>
      </p:sp>
      <p:sp>
        <p:nvSpPr>
          <p:cNvPr id="15" name="TextBox 14"/>
          <p:cNvSpPr txBox="1"/>
          <p:nvPr/>
        </p:nvSpPr>
        <p:spPr>
          <a:xfrm>
            <a:off x="2651760" y="2359152"/>
            <a:ext cx="1307592" cy="777240"/>
          </a:xfrm>
          <a:prstGeom prst="rect">
            <a:avLst/>
          </a:prstGeom>
          <a:noFill/>
        </p:spPr>
        <p:txBody>
          <a:bodyPr wrap="square" anchor="ctr">
            <a:spAutoFit/>
          </a:bodyPr>
          <a:lstStyle/>
          <a:p>
            <a:pPr algn="l">
              <a:defRPr sz="1300" b="0">
                <a:solidFill>
                  <a:srgbClr val="627D98"/>
                </a:solidFill>
                <a:latin typeface="Aptos"/>
              </a:defRPr>
            </a:pPr>
            <a:r>
              <a:t>Keys, dates, quantities</a:t>
            </a:r>
          </a:p>
        </p:txBody>
      </p:sp>
      <p:sp>
        <p:nvSpPr>
          <p:cNvPr id="16" name="TextBox 15"/>
          <p:cNvSpPr txBox="1"/>
          <p:nvPr/>
        </p:nvSpPr>
        <p:spPr>
          <a:xfrm>
            <a:off x="4114800" y="2331720"/>
            <a:ext cx="228600" cy="228600"/>
          </a:xfrm>
          <a:prstGeom prst="rect">
            <a:avLst/>
          </a:prstGeom>
          <a:noFill/>
        </p:spPr>
        <p:txBody>
          <a:bodyPr wrap="square" anchor="ctr">
            <a:spAutoFit/>
          </a:bodyPr>
          <a:lstStyle/>
          <a:p>
            <a:pPr algn="ctr">
              <a:defRPr sz="1700" b="1">
                <a:solidFill>
                  <a:srgbClr val="627D98"/>
                </a:solidFill>
                <a:latin typeface="Aptos"/>
              </a:defRPr>
            </a:pPr>
            <a:r>
              <a:t>→</a:t>
            </a:r>
          </a:p>
        </p:txBody>
      </p:sp>
      <p:sp>
        <p:nvSpPr>
          <p:cNvPr id="17" name="Rounded Rectangle 16"/>
          <p:cNvSpPr/>
          <p:nvPr/>
        </p:nvSpPr>
        <p:spPr>
          <a:xfrm>
            <a:off x="4343400" y="1828800"/>
            <a:ext cx="1691640" cy="141732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3400" y="1828800"/>
            <a:ext cx="73152" cy="1417320"/>
          </a:xfrm>
          <a:prstGeom prst="rect">
            <a:avLst/>
          </a:prstGeom>
          <a:solidFill>
            <a:srgbClr val="F39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1947672"/>
            <a:ext cx="1307592" cy="365760"/>
          </a:xfrm>
          <a:prstGeom prst="rect">
            <a:avLst/>
          </a:prstGeom>
          <a:noFill/>
        </p:spPr>
        <p:txBody>
          <a:bodyPr wrap="square" anchor="ctr">
            <a:spAutoFit/>
          </a:bodyPr>
          <a:lstStyle/>
          <a:p>
            <a:pPr algn="l">
              <a:defRPr sz="1500" b="1">
                <a:solidFill>
                  <a:srgbClr val="102A43"/>
                </a:solidFill>
                <a:latin typeface="Aptos"/>
              </a:defRPr>
            </a:pPr>
            <a:r>
              <a:t>3  DEDUPLICATE</a:t>
            </a:r>
          </a:p>
        </p:txBody>
      </p:sp>
      <p:sp>
        <p:nvSpPr>
          <p:cNvPr id="20" name="TextBox 19"/>
          <p:cNvSpPr txBox="1"/>
          <p:nvPr/>
        </p:nvSpPr>
        <p:spPr>
          <a:xfrm>
            <a:off x="4572000" y="2359152"/>
            <a:ext cx="1307592" cy="777240"/>
          </a:xfrm>
          <a:prstGeom prst="rect">
            <a:avLst/>
          </a:prstGeom>
          <a:noFill/>
        </p:spPr>
        <p:txBody>
          <a:bodyPr wrap="square" anchor="ctr">
            <a:spAutoFit/>
          </a:bodyPr>
          <a:lstStyle/>
          <a:p>
            <a:pPr algn="l">
              <a:defRPr sz="1300" b="0">
                <a:solidFill>
                  <a:srgbClr val="627D98"/>
                </a:solidFill>
                <a:latin typeface="Aptos"/>
              </a:defRPr>
            </a:pPr>
            <a:r>
              <a:t>Transaction &amp; shipment IDs</a:t>
            </a:r>
          </a:p>
        </p:txBody>
      </p:sp>
      <p:sp>
        <p:nvSpPr>
          <p:cNvPr id="21" name="TextBox 20"/>
          <p:cNvSpPr txBox="1"/>
          <p:nvPr/>
        </p:nvSpPr>
        <p:spPr>
          <a:xfrm>
            <a:off x="6035040" y="2331720"/>
            <a:ext cx="228600" cy="228600"/>
          </a:xfrm>
          <a:prstGeom prst="rect">
            <a:avLst/>
          </a:prstGeom>
          <a:noFill/>
        </p:spPr>
        <p:txBody>
          <a:bodyPr wrap="square" anchor="ctr">
            <a:spAutoFit/>
          </a:bodyPr>
          <a:lstStyle/>
          <a:p>
            <a:pPr algn="ctr">
              <a:defRPr sz="1700" b="1">
                <a:solidFill>
                  <a:srgbClr val="627D98"/>
                </a:solidFill>
                <a:latin typeface="Aptos"/>
              </a:defRPr>
            </a:pPr>
            <a:r>
              <a:t>→</a:t>
            </a:r>
          </a:p>
        </p:txBody>
      </p:sp>
      <p:sp>
        <p:nvSpPr>
          <p:cNvPr id="22" name="Rounded Rectangle 21"/>
          <p:cNvSpPr/>
          <p:nvPr/>
        </p:nvSpPr>
        <p:spPr>
          <a:xfrm>
            <a:off x="6263640" y="1828800"/>
            <a:ext cx="1691640" cy="141732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1828800"/>
            <a:ext cx="73152" cy="141732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1947672"/>
            <a:ext cx="1307592" cy="365760"/>
          </a:xfrm>
          <a:prstGeom prst="rect">
            <a:avLst/>
          </a:prstGeom>
          <a:noFill/>
        </p:spPr>
        <p:txBody>
          <a:bodyPr wrap="square" anchor="ctr">
            <a:spAutoFit/>
          </a:bodyPr>
          <a:lstStyle/>
          <a:p>
            <a:pPr algn="l">
              <a:defRPr sz="1500" b="1">
                <a:solidFill>
                  <a:srgbClr val="102A43"/>
                </a:solidFill>
                <a:latin typeface="Aptos"/>
              </a:defRPr>
            </a:pPr>
            <a:r>
              <a:t>4  JOIN</a:t>
            </a:r>
          </a:p>
        </p:txBody>
      </p:sp>
      <p:sp>
        <p:nvSpPr>
          <p:cNvPr id="25" name="TextBox 24"/>
          <p:cNvSpPr txBox="1"/>
          <p:nvPr/>
        </p:nvSpPr>
        <p:spPr>
          <a:xfrm>
            <a:off x="6492240" y="2359152"/>
            <a:ext cx="1307592" cy="777240"/>
          </a:xfrm>
          <a:prstGeom prst="rect">
            <a:avLst/>
          </a:prstGeom>
          <a:noFill/>
        </p:spPr>
        <p:txBody>
          <a:bodyPr wrap="square" anchor="ctr">
            <a:spAutoFit/>
          </a:bodyPr>
          <a:lstStyle/>
          <a:p>
            <a:pPr algn="l">
              <a:defRPr sz="1300" b="0">
                <a:solidFill>
                  <a:srgbClr val="627D98"/>
                </a:solidFill>
                <a:latin typeface="Aptos"/>
              </a:defRPr>
            </a:pPr>
            <a:r>
              <a:t>Products, balances, schedule</a:t>
            </a:r>
          </a:p>
        </p:txBody>
      </p:sp>
      <p:sp>
        <p:nvSpPr>
          <p:cNvPr id="26" name="TextBox 25"/>
          <p:cNvSpPr txBox="1"/>
          <p:nvPr/>
        </p:nvSpPr>
        <p:spPr>
          <a:xfrm>
            <a:off x="7955280" y="2331720"/>
            <a:ext cx="228600" cy="228600"/>
          </a:xfrm>
          <a:prstGeom prst="rect">
            <a:avLst/>
          </a:prstGeom>
          <a:noFill/>
        </p:spPr>
        <p:txBody>
          <a:bodyPr wrap="square" anchor="ctr">
            <a:spAutoFit/>
          </a:bodyPr>
          <a:lstStyle/>
          <a:p>
            <a:pPr algn="ctr">
              <a:defRPr sz="1700" b="1">
                <a:solidFill>
                  <a:srgbClr val="627D98"/>
                </a:solidFill>
                <a:latin typeface="Aptos"/>
              </a:defRPr>
            </a:pPr>
            <a:r>
              <a:t>→</a:t>
            </a:r>
          </a:p>
        </p:txBody>
      </p:sp>
      <p:sp>
        <p:nvSpPr>
          <p:cNvPr id="27" name="Rounded Rectangle 26"/>
          <p:cNvSpPr/>
          <p:nvPr/>
        </p:nvSpPr>
        <p:spPr>
          <a:xfrm>
            <a:off x="8183880" y="1828800"/>
            <a:ext cx="1691640" cy="141732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83880" y="1828800"/>
            <a:ext cx="73152" cy="141732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1947672"/>
            <a:ext cx="1307592" cy="365760"/>
          </a:xfrm>
          <a:prstGeom prst="rect">
            <a:avLst/>
          </a:prstGeom>
          <a:noFill/>
        </p:spPr>
        <p:txBody>
          <a:bodyPr wrap="square" anchor="ctr">
            <a:spAutoFit/>
          </a:bodyPr>
          <a:lstStyle/>
          <a:p>
            <a:pPr algn="l">
              <a:defRPr sz="1500" b="1">
                <a:solidFill>
                  <a:srgbClr val="102A43"/>
                </a:solidFill>
                <a:latin typeface="Aptos"/>
              </a:defRPr>
            </a:pPr>
            <a:r>
              <a:t>5  WINDOW</a:t>
            </a:r>
          </a:p>
        </p:txBody>
      </p:sp>
      <p:sp>
        <p:nvSpPr>
          <p:cNvPr id="30" name="TextBox 29"/>
          <p:cNvSpPr txBox="1"/>
          <p:nvPr/>
        </p:nvSpPr>
        <p:spPr>
          <a:xfrm>
            <a:off x="8412480" y="2359152"/>
            <a:ext cx="1307592" cy="777240"/>
          </a:xfrm>
          <a:prstGeom prst="rect">
            <a:avLst/>
          </a:prstGeom>
          <a:noFill/>
        </p:spPr>
        <p:txBody>
          <a:bodyPr wrap="square" anchor="ctr">
            <a:spAutoFit/>
          </a:bodyPr>
          <a:lstStyle/>
          <a:p>
            <a:pPr algn="l">
              <a:defRPr sz="1300" b="0">
                <a:solidFill>
                  <a:srgbClr val="627D98"/>
                </a:solidFill>
                <a:latin typeface="Aptos"/>
              </a:defRPr>
            </a:pPr>
            <a:r>
              <a:t>Cumulative event inventory</a:t>
            </a:r>
          </a:p>
        </p:txBody>
      </p:sp>
      <p:sp>
        <p:nvSpPr>
          <p:cNvPr id="31" name="TextBox 30"/>
          <p:cNvSpPr txBox="1"/>
          <p:nvPr/>
        </p:nvSpPr>
        <p:spPr>
          <a:xfrm>
            <a:off x="9875520" y="2331720"/>
            <a:ext cx="228600" cy="228600"/>
          </a:xfrm>
          <a:prstGeom prst="rect">
            <a:avLst/>
          </a:prstGeom>
          <a:noFill/>
        </p:spPr>
        <p:txBody>
          <a:bodyPr wrap="square" anchor="ctr">
            <a:spAutoFit/>
          </a:bodyPr>
          <a:lstStyle/>
          <a:p>
            <a:pPr algn="ctr">
              <a:defRPr sz="1700" b="1">
                <a:solidFill>
                  <a:srgbClr val="627D98"/>
                </a:solidFill>
                <a:latin typeface="Aptos"/>
              </a:defRPr>
            </a:pPr>
            <a:r>
              <a:t>→</a:t>
            </a:r>
          </a:p>
        </p:txBody>
      </p:sp>
      <p:sp>
        <p:nvSpPr>
          <p:cNvPr id="32" name="Rounded Rectangle 31"/>
          <p:cNvSpPr/>
          <p:nvPr/>
        </p:nvSpPr>
        <p:spPr>
          <a:xfrm>
            <a:off x="10104120" y="1828800"/>
            <a:ext cx="1691640" cy="141732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104120" y="1828800"/>
            <a:ext cx="73152" cy="141732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32720" y="1947672"/>
            <a:ext cx="1307592" cy="365760"/>
          </a:xfrm>
          <a:prstGeom prst="rect">
            <a:avLst/>
          </a:prstGeom>
          <a:noFill/>
        </p:spPr>
        <p:txBody>
          <a:bodyPr wrap="square" anchor="ctr">
            <a:spAutoFit/>
          </a:bodyPr>
          <a:lstStyle/>
          <a:p>
            <a:pPr algn="l">
              <a:defRPr sz="1500" b="1">
                <a:solidFill>
                  <a:srgbClr val="102A43"/>
                </a:solidFill>
                <a:latin typeface="Aptos"/>
              </a:defRPr>
            </a:pPr>
            <a:r>
              <a:t>6  PUBLISH</a:t>
            </a:r>
          </a:p>
        </p:txBody>
      </p:sp>
      <p:sp>
        <p:nvSpPr>
          <p:cNvPr id="35" name="TextBox 34"/>
          <p:cNvSpPr txBox="1"/>
          <p:nvPr/>
        </p:nvSpPr>
        <p:spPr>
          <a:xfrm>
            <a:off x="10332720" y="2359152"/>
            <a:ext cx="1307592" cy="777240"/>
          </a:xfrm>
          <a:prstGeom prst="rect">
            <a:avLst/>
          </a:prstGeom>
          <a:noFill/>
        </p:spPr>
        <p:txBody>
          <a:bodyPr wrap="square" anchor="ctr">
            <a:spAutoFit/>
          </a:bodyPr>
          <a:lstStyle/>
          <a:p>
            <a:pPr algn="l">
              <a:defRPr sz="1300" b="0">
                <a:solidFill>
                  <a:srgbClr val="627D98"/>
                </a:solidFill>
                <a:latin typeface="Aptos"/>
              </a:defRPr>
            </a:pPr>
            <a:r>
              <a:t>Partitioned Parquet</a:t>
            </a:r>
          </a:p>
        </p:txBody>
      </p:sp>
      <p:sp>
        <p:nvSpPr>
          <p:cNvPr id="36" name="TextBox 35"/>
          <p:cNvSpPr txBox="1"/>
          <p:nvPr/>
        </p:nvSpPr>
        <p:spPr>
          <a:xfrm>
            <a:off x="685800" y="3886200"/>
            <a:ext cx="10789920" cy="1600200"/>
          </a:xfrm>
          <a:prstGeom prst="rect">
            <a:avLst/>
          </a:prstGeom>
          <a:noFill/>
        </p:spPr>
        <p:txBody>
          <a:bodyPr wrap="square">
            <a:spAutoFit/>
          </a:bodyPr>
          <a:lstStyle/>
          <a:p>
            <a:pPr>
              <a:spcAft>
                <a:spcPts val="1200"/>
              </a:spcAft>
              <a:defRPr sz="1700">
                <a:solidFill>
                  <a:srgbClr val="243B53"/>
                </a:solidFill>
                <a:latin typeface="Aptos"/>
              </a:defRPr>
            </a:pPr>
            <a:r>
              <a:t>• Invalid and unrealistic rows are written to quarantine rather than silently discarded.</a:t>
            </a:r>
          </a:p>
          <a:p>
            <a:pPr>
              <a:spcAft>
                <a:spcPts val="1200"/>
              </a:spcAft>
              <a:defRPr sz="1700">
                <a:solidFill>
                  <a:srgbClr val="243B53"/>
                </a:solidFill>
                <a:latin typeface="Aptos"/>
              </a:defRPr>
            </a:pPr>
            <a:r>
              <a:t>• Adaptive query execution and partitioned output support scale without changing business logic.</a:t>
            </a:r>
          </a:p>
          <a:p>
            <a:pPr>
              <a:spcAft>
                <a:spcPts val="1200"/>
              </a:spcAft>
              <a:defRPr sz="1700">
                <a:solidFill>
                  <a:srgbClr val="243B53"/>
                </a:solidFill>
                <a:latin typeface="Aptos"/>
              </a:defRPr>
            </a:pPr>
            <a:r>
              <a:t>• Parquet with Snappy compression reduces scan size for Spark and Athena.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28600"/>
            <a:ext cx="10972800" cy="274320"/>
          </a:xfrm>
          <a:prstGeom prst="rect">
            <a:avLst/>
          </a:prstGeom>
          <a:noFill/>
        </p:spPr>
        <p:txBody>
          <a:bodyPr wrap="square" anchor="ctr">
            <a:spAutoFit/>
          </a:bodyPr>
          <a:lstStyle/>
          <a:p>
            <a:pPr algn="l">
              <a:defRPr sz="1000" b="1">
                <a:solidFill>
                  <a:srgbClr val="00A6A6"/>
                </a:solidFill>
                <a:latin typeface="Aptos"/>
              </a:defRPr>
            </a:pPr>
            <a:r>
              <a:t>PLATFORM ARCHITECTURE</a:t>
            </a:r>
          </a:p>
        </p:txBody>
      </p:sp>
      <p:sp>
        <p:nvSpPr>
          <p:cNvPr id="4" name="TextBox 3"/>
          <p:cNvSpPr txBox="1"/>
          <p:nvPr/>
        </p:nvSpPr>
        <p:spPr>
          <a:xfrm>
            <a:off x="566928" y="530352"/>
            <a:ext cx="10972800" cy="594360"/>
          </a:xfrm>
          <a:prstGeom prst="rect">
            <a:avLst/>
          </a:prstGeom>
          <a:noFill/>
        </p:spPr>
        <p:txBody>
          <a:bodyPr wrap="square" anchor="ctr">
            <a:spAutoFit/>
          </a:bodyPr>
          <a:lstStyle/>
          <a:p>
            <a:pPr algn="l">
              <a:defRPr sz="2700" b="1">
                <a:solidFill>
                  <a:srgbClr val="102A43"/>
                </a:solidFill>
                <a:latin typeface="Aptos"/>
              </a:defRPr>
            </a:pPr>
            <a:r>
              <a:t>Local development and AWS use the same pipeline</a:t>
            </a:r>
          </a:p>
        </p:txBody>
      </p:sp>
      <p:sp>
        <p:nvSpPr>
          <p:cNvPr id="5" name="TextBox 4"/>
          <p:cNvSpPr txBox="1"/>
          <p:nvPr/>
        </p:nvSpPr>
        <p:spPr>
          <a:xfrm>
            <a:off x="576072" y="6547104"/>
            <a:ext cx="4754880" cy="182880"/>
          </a:xfrm>
          <a:prstGeom prst="rect">
            <a:avLst/>
          </a:prstGeom>
          <a:noFill/>
        </p:spPr>
        <p:txBody>
          <a:bodyPr wrap="square" anchor="ctr">
            <a:spAutoFit/>
          </a:bodyPr>
          <a:lstStyle/>
          <a:p>
            <a:pPr algn="l">
              <a:defRPr sz="900" b="0">
                <a:solidFill>
                  <a:srgbClr val="627D98"/>
                </a:solidFill>
                <a:latin typeface="Aptos"/>
              </a:defRPr>
            </a:pPr>
            <a:r>
              <a:t>CS-675 Big Data Management  |  Shuhao Lin</a:t>
            </a:r>
          </a:p>
        </p:txBody>
      </p:sp>
      <p:sp>
        <p:nvSpPr>
          <p:cNvPr id="6" name="TextBox 5"/>
          <p:cNvSpPr txBox="1"/>
          <p:nvPr/>
        </p:nvSpPr>
        <p:spPr>
          <a:xfrm>
            <a:off x="11201400" y="6547104"/>
            <a:ext cx="365760" cy="182880"/>
          </a:xfrm>
          <a:prstGeom prst="rect">
            <a:avLst/>
          </a:prstGeom>
          <a:noFill/>
        </p:spPr>
        <p:txBody>
          <a:bodyPr wrap="square" anchor="ctr">
            <a:spAutoFit/>
          </a:bodyPr>
          <a:lstStyle/>
          <a:p>
            <a:pPr algn="r">
              <a:defRPr sz="900" b="0">
                <a:solidFill>
                  <a:srgbClr val="627D98"/>
                </a:solidFill>
                <a:latin typeface="Aptos"/>
              </a:defRPr>
            </a:pPr>
            <a:r>
              <a:t>7</a:t>
            </a:r>
          </a:p>
        </p:txBody>
      </p:sp>
      <p:sp>
        <p:nvSpPr>
          <p:cNvPr id="7" name="Rounded Rectangle 6"/>
          <p:cNvSpPr/>
          <p:nvPr/>
        </p:nvSpPr>
        <p:spPr>
          <a:xfrm>
            <a:off x="457200" y="1828800"/>
            <a:ext cx="1664208" cy="146304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828800"/>
            <a:ext cx="73152" cy="146304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1280160" cy="365760"/>
          </a:xfrm>
          <a:prstGeom prst="rect">
            <a:avLst/>
          </a:prstGeom>
          <a:noFill/>
        </p:spPr>
        <p:txBody>
          <a:bodyPr wrap="square" anchor="ctr">
            <a:spAutoFit/>
          </a:bodyPr>
          <a:lstStyle/>
          <a:p>
            <a:pPr algn="l">
              <a:defRPr sz="1500" b="1">
                <a:solidFill>
                  <a:srgbClr val="102A43"/>
                </a:solidFill>
                <a:latin typeface="Aptos"/>
              </a:defRPr>
            </a:pPr>
            <a:r>
              <a:t>Synthetic data</a:t>
            </a:r>
          </a:p>
        </p:txBody>
      </p:sp>
      <p:sp>
        <p:nvSpPr>
          <p:cNvPr id="10" name="TextBox 9"/>
          <p:cNvSpPr txBox="1"/>
          <p:nvPr/>
        </p:nvSpPr>
        <p:spPr>
          <a:xfrm>
            <a:off x="685800" y="2359152"/>
            <a:ext cx="1280160" cy="822960"/>
          </a:xfrm>
          <a:prstGeom prst="rect">
            <a:avLst/>
          </a:prstGeom>
          <a:noFill/>
        </p:spPr>
        <p:txBody>
          <a:bodyPr wrap="square" anchor="ctr">
            <a:spAutoFit/>
          </a:bodyPr>
          <a:lstStyle/>
          <a:p>
            <a:pPr algn="l">
              <a:defRPr sz="1300" b="0">
                <a:solidFill>
                  <a:srgbClr val="627D98"/>
                </a:solidFill>
                <a:latin typeface="Aptos"/>
              </a:defRPr>
            </a:pPr>
            <a:r>
              <a:t>CSV partitions</a:t>
            </a:r>
          </a:p>
        </p:txBody>
      </p:sp>
      <p:sp>
        <p:nvSpPr>
          <p:cNvPr id="11" name="TextBox 10"/>
          <p:cNvSpPr txBox="1"/>
          <p:nvPr/>
        </p:nvSpPr>
        <p:spPr>
          <a:xfrm>
            <a:off x="2139696" y="2359152"/>
            <a:ext cx="256032" cy="228600"/>
          </a:xfrm>
          <a:prstGeom prst="rect">
            <a:avLst/>
          </a:prstGeom>
          <a:noFill/>
        </p:spPr>
        <p:txBody>
          <a:bodyPr wrap="square" anchor="ctr">
            <a:spAutoFit/>
          </a:bodyPr>
          <a:lstStyle/>
          <a:p>
            <a:pPr algn="ctr">
              <a:defRPr sz="1700" b="1">
                <a:solidFill>
                  <a:srgbClr val="627D98"/>
                </a:solidFill>
                <a:latin typeface="Aptos"/>
              </a:defRPr>
            </a:pPr>
            <a:r>
              <a:t>→</a:t>
            </a:r>
          </a:p>
        </p:txBody>
      </p:sp>
      <p:sp>
        <p:nvSpPr>
          <p:cNvPr id="12" name="Rounded Rectangle 11"/>
          <p:cNvSpPr/>
          <p:nvPr/>
        </p:nvSpPr>
        <p:spPr>
          <a:xfrm>
            <a:off x="2395728" y="1828800"/>
            <a:ext cx="1664208" cy="146304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95728" y="1828800"/>
            <a:ext cx="73152" cy="146304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24328" y="1947672"/>
            <a:ext cx="1280160" cy="365760"/>
          </a:xfrm>
          <a:prstGeom prst="rect">
            <a:avLst/>
          </a:prstGeom>
          <a:noFill/>
        </p:spPr>
        <p:txBody>
          <a:bodyPr wrap="square" anchor="ctr">
            <a:spAutoFit/>
          </a:bodyPr>
          <a:lstStyle/>
          <a:p>
            <a:pPr algn="l">
              <a:defRPr sz="1500" b="1">
                <a:solidFill>
                  <a:srgbClr val="102A43"/>
                </a:solidFill>
                <a:latin typeface="Aptos"/>
              </a:defRPr>
            </a:pPr>
            <a:r>
              <a:t>Amazon S3</a:t>
            </a:r>
          </a:p>
        </p:txBody>
      </p:sp>
      <p:sp>
        <p:nvSpPr>
          <p:cNvPr id="15" name="TextBox 14"/>
          <p:cNvSpPr txBox="1"/>
          <p:nvPr/>
        </p:nvSpPr>
        <p:spPr>
          <a:xfrm>
            <a:off x="2624328" y="2359152"/>
            <a:ext cx="1280160" cy="822960"/>
          </a:xfrm>
          <a:prstGeom prst="rect">
            <a:avLst/>
          </a:prstGeom>
          <a:noFill/>
        </p:spPr>
        <p:txBody>
          <a:bodyPr wrap="square" anchor="ctr">
            <a:spAutoFit/>
          </a:bodyPr>
          <a:lstStyle/>
          <a:p>
            <a:pPr algn="l">
              <a:defRPr sz="1300" b="0">
                <a:solidFill>
                  <a:srgbClr val="627D98"/>
                </a:solidFill>
                <a:latin typeface="Aptos"/>
              </a:defRPr>
            </a:pPr>
            <a:r>
              <a:t>Raw zone</a:t>
            </a:r>
          </a:p>
        </p:txBody>
      </p:sp>
      <p:sp>
        <p:nvSpPr>
          <p:cNvPr id="16" name="TextBox 15"/>
          <p:cNvSpPr txBox="1"/>
          <p:nvPr/>
        </p:nvSpPr>
        <p:spPr>
          <a:xfrm>
            <a:off x="4078224" y="2359152"/>
            <a:ext cx="256032" cy="228600"/>
          </a:xfrm>
          <a:prstGeom prst="rect">
            <a:avLst/>
          </a:prstGeom>
          <a:noFill/>
        </p:spPr>
        <p:txBody>
          <a:bodyPr wrap="square" anchor="ctr">
            <a:spAutoFit/>
          </a:bodyPr>
          <a:lstStyle/>
          <a:p>
            <a:pPr algn="ctr">
              <a:defRPr sz="1700" b="1">
                <a:solidFill>
                  <a:srgbClr val="627D98"/>
                </a:solidFill>
                <a:latin typeface="Aptos"/>
              </a:defRPr>
            </a:pPr>
            <a:r>
              <a:t>→</a:t>
            </a:r>
          </a:p>
        </p:txBody>
      </p:sp>
      <p:sp>
        <p:nvSpPr>
          <p:cNvPr id="17" name="Rounded Rectangle 16"/>
          <p:cNvSpPr/>
          <p:nvPr/>
        </p:nvSpPr>
        <p:spPr>
          <a:xfrm>
            <a:off x="4334256" y="1828800"/>
            <a:ext cx="1664208" cy="146304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34256" y="1828800"/>
            <a:ext cx="73152" cy="1463040"/>
          </a:xfrm>
          <a:prstGeom prst="rect">
            <a:avLst/>
          </a:prstGeom>
          <a:solidFill>
            <a:srgbClr val="F39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62856" y="1947672"/>
            <a:ext cx="1280160" cy="365760"/>
          </a:xfrm>
          <a:prstGeom prst="rect">
            <a:avLst/>
          </a:prstGeom>
          <a:noFill/>
        </p:spPr>
        <p:txBody>
          <a:bodyPr wrap="square" anchor="ctr">
            <a:spAutoFit/>
          </a:bodyPr>
          <a:lstStyle/>
          <a:p>
            <a:pPr algn="l">
              <a:defRPr sz="1500" b="1">
                <a:solidFill>
                  <a:srgbClr val="102A43"/>
                </a:solidFill>
                <a:latin typeface="Aptos"/>
              </a:defRPr>
            </a:pPr>
            <a:r>
              <a:t>EMR Serverless</a:t>
            </a:r>
          </a:p>
        </p:txBody>
      </p:sp>
      <p:sp>
        <p:nvSpPr>
          <p:cNvPr id="20" name="TextBox 19"/>
          <p:cNvSpPr txBox="1"/>
          <p:nvPr/>
        </p:nvSpPr>
        <p:spPr>
          <a:xfrm>
            <a:off x="4562856" y="2359152"/>
            <a:ext cx="1280160" cy="822960"/>
          </a:xfrm>
          <a:prstGeom prst="rect">
            <a:avLst/>
          </a:prstGeom>
          <a:noFill/>
        </p:spPr>
        <p:txBody>
          <a:bodyPr wrap="square" anchor="ctr">
            <a:spAutoFit/>
          </a:bodyPr>
          <a:lstStyle/>
          <a:p>
            <a:pPr algn="l">
              <a:defRPr sz="1300" b="0">
                <a:solidFill>
                  <a:srgbClr val="627D98"/>
                </a:solidFill>
                <a:latin typeface="Aptos"/>
              </a:defRPr>
            </a:pPr>
            <a:r>
              <a:t>Apache Spark</a:t>
            </a:r>
          </a:p>
        </p:txBody>
      </p:sp>
      <p:sp>
        <p:nvSpPr>
          <p:cNvPr id="21" name="TextBox 20"/>
          <p:cNvSpPr txBox="1"/>
          <p:nvPr/>
        </p:nvSpPr>
        <p:spPr>
          <a:xfrm>
            <a:off x="6016752" y="2359152"/>
            <a:ext cx="256032" cy="228600"/>
          </a:xfrm>
          <a:prstGeom prst="rect">
            <a:avLst/>
          </a:prstGeom>
          <a:noFill/>
        </p:spPr>
        <p:txBody>
          <a:bodyPr wrap="square" anchor="ctr">
            <a:spAutoFit/>
          </a:bodyPr>
          <a:lstStyle/>
          <a:p>
            <a:pPr algn="ctr">
              <a:defRPr sz="1700" b="1">
                <a:solidFill>
                  <a:srgbClr val="627D98"/>
                </a:solidFill>
                <a:latin typeface="Aptos"/>
              </a:defRPr>
            </a:pPr>
            <a:r>
              <a:t>→</a:t>
            </a:r>
          </a:p>
        </p:txBody>
      </p:sp>
      <p:sp>
        <p:nvSpPr>
          <p:cNvPr id="22" name="Rounded Rectangle 21"/>
          <p:cNvSpPr/>
          <p:nvPr/>
        </p:nvSpPr>
        <p:spPr>
          <a:xfrm>
            <a:off x="6272784" y="1828800"/>
            <a:ext cx="1664208" cy="146304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72784" y="1828800"/>
            <a:ext cx="73152" cy="146304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01384" y="1947672"/>
            <a:ext cx="1280160" cy="365760"/>
          </a:xfrm>
          <a:prstGeom prst="rect">
            <a:avLst/>
          </a:prstGeom>
          <a:noFill/>
        </p:spPr>
        <p:txBody>
          <a:bodyPr wrap="square" anchor="ctr">
            <a:spAutoFit/>
          </a:bodyPr>
          <a:lstStyle/>
          <a:p>
            <a:pPr algn="l">
              <a:defRPr sz="1500" b="1">
                <a:solidFill>
                  <a:srgbClr val="102A43"/>
                </a:solidFill>
                <a:latin typeface="Aptos"/>
              </a:defRPr>
            </a:pPr>
            <a:r>
              <a:t>Amazon S3</a:t>
            </a:r>
          </a:p>
        </p:txBody>
      </p:sp>
      <p:sp>
        <p:nvSpPr>
          <p:cNvPr id="25" name="TextBox 24"/>
          <p:cNvSpPr txBox="1"/>
          <p:nvPr/>
        </p:nvSpPr>
        <p:spPr>
          <a:xfrm>
            <a:off x="6501384" y="2359152"/>
            <a:ext cx="1280160" cy="822960"/>
          </a:xfrm>
          <a:prstGeom prst="rect">
            <a:avLst/>
          </a:prstGeom>
          <a:noFill/>
        </p:spPr>
        <p:txBody>
          <a:bodyPr wrap="square" anchor="ctr">
            <a:spAutoFit/>
          </a:bodyPr>
          <a:lstStyle/>
          <a:p>
            <a:pPr algn="l">
              <a:defRPr sz="1300" b="0">
                <a:solidFill>
                  <a:srgbClr val="627D98"/>
                </a:solidFill>
                <a:latin typeface="Aptos"/>
              </a:defRPr>
            </a:pPr>
            <a:r>
              <a:t>Curated Parquet</a:t>
            </a:r>
          </a:p>
        </p:txBody>
      </p:sp>
      <p:sp>
        <p:nvSpPr>
          <p:cNvPr id="26" name="TextBox 25"/>
          <p:cNvSpPr txBox="1"/>
          <p:nvPr/>
        </p:nvSpPr>
        <p:spPr>
          <a:xfrm>
            <a:off x="7955280" y="2359152"/>
            <a:ext cx="256032" cy="228600"/>
          </a:xfrm>
          <a:prstGeom prst="rect">
            <a:avLst/>
          </a:prstGeom>
          <a:noFill/>
        </p:spPr>
        <p:txBody>
          <a:bodyPr wrap="square" anchor="ctr">
            <a:spAutoFit/>
          </a:bodyPr>
          <a:lstStyle/>
          <a:p>
            <a:pPr algn="ctr">
              <a:defRPr sz="1700" b="1">
                <a:solidFill>
                  <a:srgbClr val="627D98"/>
                </a:solidFill>
                <a:latin typeface="Aptos"/>
              </a:defRPr>
            </a:pPr>
            <a:r>
              <a:t>→</a:t>
            </a:r>
          </a:p>
        </p:txBody>
      </p:sp>
      <p:sp>
        <p:nvSpPr>
          <p:cNvPr id="27" name="Rounded Rectangle 26"/>
          <p:cNvSpPr/>
          <p:nvPr/>
        </p:nvSpPr>
        <p:spPr>
          <a:xfrm>
            <a:off x="8211312" y="1828800"/>
            <a:ext cx="1664208" cy="146304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11312" y="1828800"/>
            <a:ext cx="73152" cy="146304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39912" y="1947672"/>
            <a:ext cx="1280160" cy="365760"/>
          </a:xfrm>
          <a:prstGeom prst="rect">
            <a:avLst/>
          </a:prstGeom>
          <a:noFill/>
        </p:spPr>
        <p:txBody>
          <a:bodyPr wrap="square" anchor="ctr">
            <a:spAutoFit/>
          </a:bodyPr>
          <a:lstStyle/>
          <a:p>
            <a:pPr algn="l">
              <a:defRPr sz="1500" b="1">
                <a:solidFill>
                  <a:srgbClr val="102A43"/>
                </a:solidFill>
                <a:latin typeface="Aptos"/>
              </a:defRPr>
            </a:pPr>
            <a:r>
              <a:t>Amazon Athena</a:t>
            </a:r>
          </a:p>
        </p:txBody>
      </p:sp>
      <p:sp>
        <p:nvSpPr>
          <p:cNvPr id="30" name="TextBox 29"/>
          <p:cNvSpPr txBox="1"/>
          <p:nvPr/>
        </p:nvSpPr>
        <p:spPr>
          <a:xfrm>
            <a:off x="8439912" y="2359152"/>
            <a:ext cx="1280160" cy="822960"/>
          </a:xfrm>
          <a:prstGeom prst="rect">
            <a:avLst/>
          </a:prstGeom>
          <a:noFill/>
        </p:spPr>
        <p:txBody>
          <a:bodyPr wrap="square" anchor="ctr">
            <a:spAutoFit/>
          </a:bodyPr>
          <a:lstStyle/>
          <a:p>
            <a:pPr algn="l">
              <a:defRPr sz="1300" b="0">
                <a:solidFill>
                  <a:srgbClr val="627D98"/>
                </a:solidFill>
                <a:latin typeface="Aptos"/>
              </a:defRPr>
            </a:pPr>
            <a:r>
              <a:t>SQL analysis</a:t>
            </a:r>
          </a:p>
        </p:txBody>
      </p:sp>
      <p:sp>
        <p:nvSpPr>
          <p:cNvPr id="31" name="TextBox 30"/>
          <p:cNvSpPr txBox="1"/>
          <p:nvPr/>
        </p:nvSpPr>
        <p:spPr>
          <a:xfrm>
            <a:off x="9893808" y="2359152"/>
            <a:ext cx="256032" cy="228600"/>
          </a:xfrm>
          <a:prstGeom prst="rect">
            <a:avLst/>
          </a:prstGeom>
          <a:noFill/>
        </p:spPr>
        <p:txBody>
          <a:bodyPr wrap="square" anchor="ctr">
            <a:spAutoFit/>
          </a:bodyPr>
          <a:lstStyle/>
          <a:p>
            <a:pPr algn="ctr">
              <a:defRPr sz="1700" b="1">
                <a:solidFill>
                  <a:srgbClr val="627D98"/>
                </a:solidFill>
                <a:latin typeface="Aptos"/>
              </a:defRPr>
            </a:pPr>
            <a:r>
              <a:t>→</a:t>
            </a:r>
          </a:p>
        </p:txBody>
      </p:sp>
      <p:sp>
        <p:nvSpPr>
          <p:cNvPr id="32" name="Rounded Rectangle 31"/>
          <p:cNvSpPr/>
          <p:nvPr/>
        </p:nvSpPr>
        <p:spPr>
          <a:xfrm>
            <a:off x="10149840" y="1828800"/>
            <a:ext cx="1664208" cy="146304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149840" y="1828800"/>
            <a:ext cx="73152" cy="146304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78440" y="1947672"/>
            <a:ext cx="1280160" cy="365760"/>
          </a:xfrm>
          <a:prstGeom prst="rect">
            <a:avLst/>
          </a:prstGeom>
          <a:noFill/>
        </p:spPr>
        <p:txBody>
          <a:bodyPr wrap="square" anchor="ctr">
            <a:spAutoFit/>
          </a:bodyPr>
          <a:lstStyle/>
          <a:p>
            <a:pPr algn="l">
              <a:defRPr sz="1500" b="1">
                <a:solidFill>
                  <a:srgbClr val="102A43"/>
                </a:solidFill>
                <a:latin typeface="Aptos"/>
              </a:defRPr>
            </a:pPr>
            <a:r>
              <a:t>Dashboard</a:t>
            </a:r>
          </a:p>
        </p:txBody>
      </p:sp>
      <p:sp>
        <p:nvSpPr>
          <p:cNvPr id="35" name="TextBox 34"/>
          <p:cNvSpPr txBox="1"/>
          <p:nvPr/>
        </p:nvSpPr>
        <p:spPr>
          <a:xfrm>
            <a:off x="10378440" y="2359152"/>
            <a:ext cx="1280160" cy="822960"/>
          </a:xfrm>
          <a:prstGeom prst="rect">
            <a:avLst/>
          </a:prstGeom>
          <a:noFill/>
        </p:spPr>
        <p:txBody>
          <a:bodyPr wrap="square" anchor="ctr">
            <a:spAutoFit/>
          </a:bodyPr>
          <a:lstStyle/>
          <a:p>
            <a:pPr algn="l">
              <a:defRPr sz="1300" b="0">
                <a:solidFill>
                  <a:srgbClr val="627D98"/>
                </a:solidFill>
                <a:latin typeface="Aptos"/>
              </a:defRPr>
            </a:pPr>
            <a:r>
              <a:t>Operational KPIs</a:t>
            </a:r>
          </a:p>
        </p:txBody>
      </p:sp>
      <p:sp>
        <p:nvSpPr>
          <p:cNvPr id="36" name="TextBox 35"/>
          <p:cNvSpPr txBox="1"/>
          <p:nvPr/>
        </p:nvSpPr>
        <p:spPr>
          <a:xfrm>
            <a:off x="685800" y="3977639"/>
            <a:ext cx="10789920" cy="594360"/>
          </a:xfrm>
          <a:prstGeom prst="rect">
            <a:avLst/>
          </a:prstGeom>
          <a:noFill/>
        </p:spPr>
        <p:txBody>
          <a:bodyPr wrap="square" anchor="ctr">
            <a:spAutoFit/>
          </a:bodyPr>
          <a:lstStyle/>
          <a:p>
            <a:pPr algn="ctr">
              <a:defRPr sz="1800" b="1">
                <a:solidFill>
                  <a:srgbClr val="102A43"/>
                </a:solidFill>
                <a:latin typeface="Aptos"/>
              </a:defRPr>
            </a:pPr>
            <a:r>
              <a:t>Terraform provisions the S3 bucket, Glue database, Athena workgroup, IAM role, and EMR Serverless application.</a:t>
            </a:r>
          </a:p>
        </p:txBody>
      </p:sp>
      <p:sp>
        <p:nvSpPr>
          <p:cNvPr id="37" name="TextBox 36"/>
          <p:cNvSpPr txBox="1"/>
          <p:nvPr/>
        </p:nvSpPr>
        <p:spPr>
          <a:xfrm>
            <a:off x="685800" y="4983480"/>
            <a:ext cx="10789920" cy="457200"/>
          </a:xfrm>
          <a:prstGeom prst="rect">
            <a:avLst/>
          </a:prstGeom>
          <a:noFill/>
        </p:spPr>
        <p:txBody>
          <a:bodyPr wrap="square" anchor="ctr">
            <a:spAutoFit/>
          </a:bodyPr>
          <a:lstStyle/>
          <a:p>
            <a:pPr algn="ctr">
              <a:defRPr sz="1500" b="0">
                <a:solidFill>
                  <a:srgbClr val="627D98"/>
                </a:solidFill>
                <a:latin typeface="Aptos"/>
              </a:defRPr>
            </a:pPr>
            <a:r>
              <a:t>Local: Docker + Spark  |  Cloud: S3 + EMR Serverless + Glue/Athena  |  Format: Snappy Parquet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28600"/>
            <a:ext cx="10972800" cy="274320"/>
          </a:xfrm>
          <a:prstGeom prst="rect">
            <a:avLst/>
          </a:prstGeom>
          <a:noFill/>
        </p:spPr>
        <p:txBody>
          <a:bodyPr wrap="square" anchor="ctr">
            <a:spAutoFit/>
          </a:bodyPr>
          <a:lstStyle/>
          <a:p>
            <a:pPr algn="l">
              <a:defRPr sz="1000" b="1">
                <a:solidFill>
                  <a:srgbClr val="00A6A6"/>
                </a:solidFill>
                <a:latin typeface="Aptos"/>
              </a:defRPr>
            </a:pPr>
            <a:r>
              <a:t>SYNTHETIC DATA</a:t>
            </a:r>
          </a:p>
        </p:txBody>
      </p:sp>
      <p:sp>
        <p:nvSpPr>
          <p:cNvPr id="4" name="TextBox 3"/>
          <p:cNvSpPr txBox="1"/>
          <p:nvPr/>
        </p:nvSpPr>
        <p:spPr>
          <a:xfrm>
            <a:off x="566928" y="530352"/>
            <a:ext cx="10972800" cy="594360"/>
          </a:xfrm>
          <a:prstGeom prst="rect">
            <a:avLst/>
          </a:prstGeom>
          <a:noFill/>
        </p:spPr>
        <p:txBody>
          <a:bodyPr wrap="square" anchor="ctr">
            <a:spAutoFit/>
          </a:bodyPr>
          <a:lstStyle/>
          <a:p>
            <a:pPr algn="l">
              <a:defRPr sz="2700" b="1">
                <a:solidFill>
                  <a:srgbClr val="102A43"/>
                </a:solidFill>
                <a:latin typeface="Aptos"/>
              </a:defRPr>
            </a:pPr>
            <a:r>
              <a:t>The reproducible sample demonstrates the full workflow</a:t>
            </a:r>
          </a:p>
        </p:txBody>
      </p:sp>
      <p:sp>
        <p:nvSpPr>
          <p:cNvPr id="5" name="TextBox 4"/>
          <p:cNvSpPr txBox="1"/>
          <p:nvPr/>
        </p:nvSpPr>
        <p:spPr>
          <a:xfrm>
            <a:off x="576072" y="6547104"/>
            <a:ext cx="4754880" cy="182880"/>
          </a:xfrm>
          <a:prstGeom prst="rect">
            <a:avLst/>
          </a:prstGeom>
          <a:noFill/>
        </p:spPr>
        <p:txBody>
          <a:bodyPr wrap="square" anchor="ctr">
            <a:spAutoFit/>
          </a:bodyPr>
          <a:lstStyle/>
          <a:p>
            <a:pPr algn="l">
              <a:defRPr sz="900" b="0">
                <a:solidFill>
                  <a:srgbClr val="627D98"/>
                </a:solidFill>
                <a:latin typeface="Aptos"/>
              </a:defRPr>
            </a:pPr>
            <a:r>
              <a:t>CS-675 Big Data Management  |  Shuhao Lin</a:t>
            </a:r>
          </a:p>
        </p:txBody>
      </p:sp>
      <p:sp>
        <p:nvSpPr>
          <p:cNvPr id="6" name="TextBox 5"/>
          <p:cNvSpPr txBox="1"/>
          <p:nvPr/>
        </p:nvSpPr>
        <p:spPr>
          <a:xfrm>
            <a:off x="11201400" y="6547104"/>
            <a:ext cx="365760" cy="182880"/>
          </a:xfrm>
          <a:prstGeom prst="rect">
            <a:avLst/>
          </a:prstGeom>
          <a:noFill/>
        </p:spPr>
        <p:txBody>
          <a:bodyPr wrap="square" anchor="ctr">
            <a:spAutoFit/>
          </a:bodyPr>
          <a:lstStyle/>
          <a:p>
            <a:pPr algn="r">
              <a:defRPr sz="900" b="0">
                <a:solidFill>
                  <a:srgbClr val="627D98"/>
                </a:solidFill>
                <a:latin typeface="Aptos"/>
              </a:defRPr>
            </a:pPr>
            <a:r>
              <a:t>8</a:t>
            </a:r>
          </a:p>
        </p:txBody>
      </p:sp>
      <p:sp>
        <p:nvSpPr>
          <p:cNvPr id="7" name="Rounded Rectangle 6"/>
          <p:cNvSpPr/>
          <p:nvPr/>
        </p:nvSpPr>
        <p:spPr>
          <a:xfrm>
            <a:off x="640080" y="1554480"/>
            <a:ext cx="2423160" cy="128016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54480"/>
            <a:ext cx="73152" cy="128016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73352"/>
            <a:ext cx="2039112" cy="365760"/>
          </a:xfrm>
          <a:prstGeom prst="rect">
            <a:avLst/>
          </a:prstGeom>
          <a:noFill/>
        </p:spPr>
        <p:txBody>
          <a:bodyPr wrap="square" anchor="ctr">
            <a:spAutoFit/>
          </a:bodyPr>
          <a:lstStyle/>
          <a:p>
            <a:pPr algn="l">
              <a:defRPr sz="1500" b="1">
                <a:solidFill>
                  <a:srgbClr val="102A43"/>
                </a:solidFill>
                <a:latin typeface="Aptos"/>
              </a:defRPr>
            </a:pPr>
            <a:r>
              <a:t>25,000</a:t>
            </a:r>
          </a:p>
        </p:txBody>
      </p:sp>
      <p:sp>
        <p:nvSpPr>
          <p:cNvPr id="10" name="TextBox 9"/>
          <p:cNvSpPr txBox="1"/>
          <p:nvPr/>
        </p:nvSpPr>
        <p:spPr>
          <a:xfrm>
            <a:off x="868680" y="2084831"/>
            <a:ext cx="2039112" cy="640080"/>
          </a:xfrm>
          <a:prstGeom prst="rect">
            <a:avLst/>
          </a:prstGeom>
          <a:noFill/>
        </p:spPr>
        <p:txBody>
          <a:bodyPr wrap="square" anchor="ctr">
            <a:spAutoFit/>
          </a:bodyPr>
          <a:lstStyle/>
          <a:p>
            <a:pPr algn="l">
              <a:defRPr sz="1300" b="0">
                <a:solidFill>
                  <a:srgbClr val="627D98"/>
                </a:solidFill>
                <a:latin typeface="Aptos"/>
              </a:defRPr>
            </a:pPr>
            <a:r>
              <a:t>inventory transactions</a:t>
            </a:r>
          </a:p>
        </p:txBody>
      </p:sp>
      <p:sp>
        <p:nvSpPr>
          <p:cNvPr id="11" name="Rounded Rectangle 10"/>
          <p:cNvSpPr/>
          <p:nvPr/>
        </p:nvSpPr>
        <p:spPr>
          <a:xfrm>
            <a:off x="3429000" y="1554480"/>
            <a:ext cx="2423160" cy="128016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554480"/>
            <a:ext cx="73152" cy="128016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1673352"/>
            <a:ext cx="2039112" cy="365760"/>
          </a:xfrm>
          <a:prstGeom prst="rect">
            <a:avLst/>
          </a:prstGeom>
          <a:noFill/>
        </p:spPr>
        <p:txBody>
          <a:bodyPr wrap="square" anchor="ctr">
            <a:spAutoFit/>
          </a:bodyPr>
          <a:lstStyle/>
          <a:p>
            <a:pPr algn="l">
              <a:defRPr sz="1500" b="1">
                <a:solidFill>
                  <a:srgbClr val="102A43"/>
                </a:solidFill>
                <a:latin typeface="Aptos"/>
              </a:defRPr>
            </a:pPr>
            <a:r>
              <a:t>3,125</a:t>
            </a:r>
          </a:p>
        </p:txBody>
      </p:sp>
      <p:sp>
        <p:nvSpPr>
          <p:cNvPr id="14" name="TextBox 13"/>
          <p:cNvSpPr txBox="1"/>
          <p:nvPr/>
        </p:nvSpPr>
        <p:spPr>
          <a:xfrm>
            <a:off x="3657600" y="2084831"/>
            <a:ext cx="2039112" cy="640080"/>
          </a:xfrm>
          <a:prstGeom prst="rect">
            <a:avLst/>
          </a:prstGeom>
          <a:noFill/>
        </p:spPr>
        <p:txBody>
          <a:bodyPr wrap="square" anchor="ctr">
            <a:spAutoFit/>
          </a:bodyPr>
          <a:lstStyle/>
          <a:p>
            <a:pPr algn="l">
              <a:defRPr sz="1300" b="0">
                <a:solidFill>
                  <a:srgbClr val="627D98"/>
                </a:solidFill>
                <a:latin typeface="Aptos"/>
              </a:defRPr>
            </a:pPr>
            <a:r>
              <a:t>scheduled shipments</a:t>
            </a:r>
          </a:p>
        </p:txBody>
      </p:sp>
      <p:sp>
        <p:nvSpPr>
          <p:cNvPr id="15" name="Rounded Rectangle 14"/>
          <p:cNvSpPr/>
          <p:nvPr/>
        </p:nvSpPr>
        <p:spPr>
          <a:xfrm>
            <a:off x="6217920" y="1554480"/>
            <a:ext cx="2423160" cy="128016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554480"/>
            <a:ext cx="73152" cy="1280160"/>
          </a:xfrm>
          <a:prstGeom prst="rect">
            <a:avLst/>
          </a:prstGeom>
          <a:solidFill>
            <a:srgbClr val="F39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1673352"/>
            <a:ext cx="2039112" cy="365760"/>
          </a:xfrm>
          <a:prstGeom prst="rect">
            <a:avLst/>
          </a:prstGeom>
          <a:noFill/>
        </p:spPr>
        <p:txBody>
          <a:bodyPr wrap="square" anchor="ctr">
            <a:spAutoFit/>
          </a:bodyPr>
          <a:lstStyle/>
          <a:p>
            <a:pPr algn="l">
              <a:defRPr sz="1500" b="1">
                <a:solidFill>
                  <a:srgbClr val="102A43"/>
                </a:solidFill>
                <a:latin typeface="Aptos"/>
              </a:defRPr>
            </a:pPr>
            <a:r>
              <a:t>200</a:t>
            </a:r>
          </a:p>
        </p:txBody>
      </p:sp>
      <p:sp>
        <p:nvSpPr>
          <p:cNvPr id="18" name="TextBox 17"/>
          <p:cNvSpPr txBox="1"/>
          <p:nvPr/>
        </p:nvSpPr>
        <p:spPr>
          <a:xfrm>
            <a:off x="6446520" y="2084831"/>
            <a:ext cx="2039112" cy="640080"/>
          </a:xfrm>
          <a:prstGeom prst="rect">
            <a:avLst/>
          </a:prstGeom>
          <a:noFill/>
        </p:spPr>
        <p:txBody>
          <a:bodyPr wrap="square" anchor="ctr">
            <a:spAutoFit/>
          </a:bodyPr>
          <a:lstStyle/>
          <a:p>
            <a:pPr algn="l">
              <a:defRPr sz="1300" b="0">
                <a:solidFill>
                  <a:srgbClr val="627D98"/>
                </a:solidFill>
                <a:latin typeface="Aptos"/>
              </a:defRPr>
            </a:pPr>
            <a:r>
              <a:t>products</a:t>
            </a:r>
          </a:p>
        </p:txBody>
      </p:sp>
      <p:sp>
        <p:nvSpPr>
          <p:cNvPr id="19" name="Rounded Rectangle 18"/>
          <p:cNvSpPr/>
          <p:nvPr/>
        </p:nvSpPr>
        <p:spPr>
          <a:xfrm>
            <a:off x="9006839" y="1554480"/>
            <a:ext cx="2423160" cy="128016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6839" y="1554480"/>
            <a:ext cx="73152" cy="128016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39" y="1673352"/>
            <a:ext cx="2039112" cy="365760"/>
          </a:xfrm>
          <a:prstGeom prst="rect">
            <a:avLst/>
          </a:prstGeom>
          <a:noFill/>
        </p:spPr>
        <p:txBody>
          <a:bodyPr wrap="square" anchor="ctr">
            <a:spAutoFit/>
          </a:bodyPr>
          <a:lstStyle/>
          <a:p>
            <a:pPr algn="l">
              <a:defRPr sz="1500" b="1">
                <a:solidFill>
                  <a:srgbClr val="102A43"/>
                </a:solidFill>
                <a:latin typeface="Aptos"/>
              </a:defRPr>
            </a:pPr>
            <a:r>
              <a:t>3</a:t>
            </a:r>
          </a:p>
        </p:txBody>
      </p:sp>
      <p:sp>
        <p:nvSpPr>
          <p:cNvPr id="22" name="TextBox 21"/>
          <p:cNvSpPr txBox="1"/>
          <p:nvPr/>
        </p:nvSpPr>
        <p:spPr>
          <a:xfrm>
            <a:off x="9235439" y="2084831"/>
            <a:ext cx="2039112" cy="640080"/>
          </a:xfrm>
          <a:prstGeom prst="rect">
            <a:avLst/>
          </a:prstGeom>
          <a:noFill/>
        </p:spPr>
        <p:txBody>
          <a:bodyPr wrap="square" anchor="ctr">
            <a:spAutoFit/>
          </a:bodyPr>
          <a:lstStyle/>
          <a:p>
            <a:pPr algn="l">
              <a:defRPr sz="1300" b="0">
                <a:solidFill>
                  <a:srgbClr val="627D98"/>
                </a:solidFill>
                <a:latin typeface="Aptos"/>
              </a:defRPr>
            </a:pPr>
            <a:r>
              <a:t>warehouses</a:t>
            </a:r>
          </a:p>
        </p:txBody>
      </p:sp>
      <p:sp>
        <p:nvSpPr>
          <p:cNvPr id="23" name="TextBox 22"/>
          <p:cNvSpPr txBox="1"/>
          <p:nvPr/>
        </p:nvSpPr>
        <p:spPr>
          <a:xfrm>
            <a:off x="731520" y="3337560"/>
            <a:ext cx="10607040" cy="2057400"/>
          </a:xfrm>
          <a:prstGeom prst="rect">
            <a:avLst/>
          </a:prstGeom>
          <a:noFill/>
        </p:spPr>
        <p:txBody>
          <a:bodyPr wrap="square">
            <a:spAutoFit/>
          </a:bodyPr>
          <a:lstStyle/>
          <a:p>
            <a:pPr>
              <a:spcAft>
                <a:spcPts val="1200"/>
              </a:spcAft>
              <a:defRPr sz="1800">
                <a:solidFill>
                  <a:srgbClr val="243B53"/>
                </a:solidFill>
                <a:latin typeface="Aptos"/>
              </a:defRPr>
            </a:pPr>
            <a:r>
              <a:t>• Historical completed shipments create the current inventory balance.</a:t>
            </a:r>
          </a:p>
          <a:p>
            <a:pPr>
              <a:spcAft>
                <a:spcPts val="1200"/>
              </a:spcAft>
              <a:defRPr sz="1800">
                <a:solidFill>
                  <a:srgbClr val="243B53"/>
                </a:solidFill>
                <a:latin typeface="Aptos"/>
              </a:defRPr>
            </a:pPr>
            <a:r>
              <a:t>• Future scheduled and delayed shipments create the planning horizon.</a:t>
            </a:r>
          </a:p>
          <a:p>
            <a:pPr>
              <a:spcAft>
                <a:spcPts val="1200"/>
              </a:spcAft>
              <a:defRPr sz="1800">
                <a:solidFill>
                  <a:srgbClr val="243B53"/>
                </a:solidFill>
                <a:latin typeface="Aptos"/>
              </a:defRPr>
            </a:pPr>
            <a:r>
              <a:t>• Opening balances and adjustments make shortage scenarios realistic without exposing company data.</a:t>
            </a:r>
          </a:p>
          <a:p>
            <a:pPr>
              <a:spcAft>
                <a:spcPts val="1200"/>
              </a:spcAft>
              <a:defRPr sz="1800">
                <a:solidFill>
                  <a:srgbClr val="243B53"/>
                </a:solidFill>
                <a:latin typeface="Aptos"/>
              </a:defRPr>
            </a:pPr>
            <a:r>
              <a:t>• A command-line row-count parameter supports the 100-million-record requirement.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28600"/>
            <a:ext cx="10972800" cy="274320"/>
          </a:xfrm>
          <a:prstGeom prst="rect">
            <a:avLst/>
          </a:prstGeom>
          <a:noFill/>
        </p:spPr>
        <p:txBody>
          <a:bodyPr wrap="square" anchor="ctr">
            <a:spAutoFit/>
          </a:bodyPr>
          <a:lstStyle/>
          <a:p>
            <a:pPr algn="l">
              <a:defRPr sz="1000" b="1">
                <a:solidFill>
                  <a:srgbClr val="00A6A6"/>
                </a:solidFill>
                <a:latin typeface="Aptos"/>
              </a:defRPr>
            </a:pPr>
            <a:r>
              <a:t>DEMONSTRATION RESULTS</a:t>
            </a:r>
          </a:p>
        </p:txBody>
      </p:sp>
      <p:sp>
        <p:nvSpPr>
          <p:cNvPr id="4" name="TextBox 3"/>
          <p:cNvSpPr txBox="1"/>
          <p:nvPr/>
        </p:nvSpPr>
        <p:spPr>
          <a:xfrm>
            <a:off x="566928" y="530352"/>
            <a:ext cx="10972800" cy="594360"/>
          </a:xfrm>
          <a:prstGeom prst="rect">
            <a:avLst/>
          </a:prstGeom>
          <a:noFill/>
        </p:spPr>
        <p:txBody>
          <a:bodyPr wrap="square" anchor="ctr">
            <a:spAutoFit/>
          </a:bodyPr>
          <a:lstStyle/>
          <a:p>
            <a:pPr algn="l">
              <a:defRPr sz="2700" b="1">
                <a:solidFill>
                  <a:srgbClr val="102A43"/>
                </a:solidFill>
                <a:latin typeface="Aptos"/>
              </a:defRPr>
            </a:pPr>
            <a:r>
              <a:t>The sample identifies 173 orders requiring attention</a:t>
            </a:r>
          </a:p>
        </p:txBody>
      </p:sp>
      <p:sp>
        <p:nvSpPr>
          <p:cNvPr id="5" name="TextBox 4"/>
          <p:cNvSpPr txBox="1"/>
          <p:nvPr/>
        </p:nvSpPr>
        <p:spPr>
          <a:xfrm>
            <a:off x="576072" y="6547104"/>
            <a:ext cx="4754880" cy="182880"/>
          </a:xfrm>
          <a:prstGeom prst="rect">
            <a:avLst/>
          </a:prstGeom>
          <a:noFill/>
        </p:spPr>
        <p:txBody>
          <a:bodyPr wrap="square" anchor="ctr">
            <a:spAutoFit/>
          </a:bodyPr>
          <a:lstStyle/>
          <a:p>
            <a:pPr algn="l">
              <a:defRPr sz="900" b="0">
                <a:solidFill>
                  <a:srgbClr val="627D98"/>
                </a:solidFill>
                <a:latin typeface="Aptos"/>
              </a:defRPr>
            </a:pPr>
            <a:r>
              <a:t>CS-675 Big Data Management  |  Shuhao Lin</a:t>
            </a:r>
          </a:p>
        </p:txBody>
      </p:sp>
      <p:sp>
        <p:nvSpPr>
          <p:cNvPr id="6" name="TextBox 5"/>
          <p:cNvSpPr txBox="1"/>
          <p:nvPr/>
        </p:nvSpPr>
        <p:spPr>
          <a:xfrm>
            <a:off x="11201400" y="6547104"/>
            <a:ext cx="365760" cy="182880"/>
          </a:xfrm>
          <a:prstGeom prst="rect">
            <a:avLst/>
          </a:prstGeom>
          <a:noFill/>
        </p:spPr>
        <p:txBody>
          <a:bodyPr wrap="square" anchor="ctr">
            <a:spAutoFit/>
          </a:bodyPr>
          <a:lstStyle/>
          <a:p>
            <a:pPr algn="r">
              <a:defRPr sz="900" b="0">
                <a:solidFill>
                  <a:srgbClr val="627D98"/>
                </a:solidFill>
                <a:latin typeface="Aptos"/>
              </a:defRPr>
            </a:pPr>
            <a:r>
              <a:t>9</a:t>
            </a:r>
          </a:p>
        </p:txBody>
      </p:sp>
      <p:pic>
        <p:nvPicPr>
          <p:cNvPr id="7" name="Picture 6" descr="readiness_status.png"/>
          <p:cNvPicPr>
            <a:picLocks noChangeAspect="1"/>
          </p:cNvPicPr>
          <p:nvPr/>
        </p:nvPicPr>
        <p:blipFill>
          <a:blip r:embed="rId3"/>
          <a:stretch>
            <a:fillRect/>
          </a:stretch>
        </p:blipFill>
        <p:spPr>
          <a:xfrm>
            <a:off x="640080" y="1325880"/>
            <a:ext cx="7040880" cy="3376411"/>
          </a:xfrm>
          <a:prstGeom prst="rect">
            <a:avLst/>
          </a:prstGeom>
        </p:spPr>
      </p:pic>
      <p:sp>
        <p:nvSpPr>
          <p:cNvPr id="8" name="Rounded Rectangle 7"/>
          <p:cNvSpPr/>
          <p:nvPr/>
        </p:nvSpPr>
        <p:spPr>
          <a:xfrm>
            <a:off x="8229600" y="1508760"/>
            <a:ext cx="2926080" cy="105156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0" y="1508760"/>
            <a:ext cx="73152" cy="105156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200" y="1627631"/>
            <a:ext cx="2542032" cy="365760"/>
          </a:xfrm>
          <a:prstGeom prst="rect">
            <a:avLst/>
          </a:prstGeom>
          <a:noFill/>
        </p:spPr>
        <p:txBody>
          <a:bodyPr wrap="square" anchor="ctr">
            <a:spAutoFit/>
          </a:bodyPr>
          <a:lstStyle/>
          <a:p>
            <a:pPr algn="l">
              <a:defRPr sz="1500" b="1">
                <a:solidFill>
                  <a:srgbClr val="102A43"/>
                </a:solidFill>
                <a:latin typeface="Aptos"/>
              </a:defRPr>
            </a:pPr>
            <a:r>
              <a:t>ORDERS EVALUATED</a:t>
            </a:r>
          </a:p>
        </p:txBody>
      </p:sp>
      <p:sp>
        <p:nvSpPr>
          <p:cNvPr id="11" name="TextBox 10"/>
          <p:cNvSpPr txBox="1"/>
          <p:nvPr/>
        </p:nvSpPr>
        <p:spPr>
          <a:xfrm>
            <a:off x="8458200" y="2039112"/>
            <a:ext cx="2542032" cy="411479"/>
          </a:xfrm>
          <a:prstGeom prst="rect">
            <a:avLst/>
          </a:prstGeom>
          <a:noFill/>
        </p:spPr>
        <p:txBody>
          <a:bodyPr wrap="square" anchor="ctr">
            <a:spAutoFit/>
          </a:bodyPr>
          <a:lstStyle/>
          <a:p>
            <a:pPr algn="l">
              <a:defRPr sz="1300" b="0">
                <a:solidFill>
                  <a:srgbClr val="627D98"/>
                </a:solidFill>
                <a:latin typeface="Aptos"/>
              </a:defRPr>
            </a:pPr>
            <a:r>
              <a:t>684</a:t>
            </a:r>
          </a:p>
        </p:txBody>
      </p:sp>
      <p:sp>
        <p:nvSpPr>
          <p:cNvPr id="12" name="Rounded Rectangle 11"/>
          <p:cNvSpPr/>
          <p:nvPr/>
        </p:nvSpPr>
        <p:spPr>
          <a:xfrm>
            <a:off x="8229600" y="2743200"/>
            <a:ext cx="2926080" cy="105156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2743200"/>
            <a:ext cx="73152" cy="1051560"/>
          </a:xfrm>
          <a:prstGeom prst="rect">
            <a:avLst/>
          </a:prstGeom>
          <a:solidFill>
            <a:srgbClr val="F39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58200" y="2862072"/>
            <a:ext cx="2542032" cy="365760"/>
          </a:xfrm>
          <a:prstGeom prst="rect">
            <a:avLst/>
          </a:prstGeom>
          <a:noFill/>
        </p:spPr>
        <p:txBody>
          <a:bodyPr wrap="square" anchor="ctr">
            <a:spAutoFit/>
          </a:bodyPr>
          <a:lstStyle/>
          <a:p>
            <a:pPr algn="l">
              <a:defRPr sz="1500" b="1">
                <a:solidFill>
                  <a:srgbClr val="102A43"/>
                </a:solidFill>
                <a:latin typeface="Aptos"/>
              </a:defRPr>
            </a:pPr>
            <a:r>
              <a:t>NEED ATTENTION</a:t>
            </a:r>
          </a:p>
        </p:txBody>
      </p:sp>
      <p:sp>
        <p:nvSpPr>
          <p:cNvPr id="15" name="TextBox 14"/>
          <p:cNvSpPr txBox="1"/>
          <p:nvPr/>
        </p:nvSpPr>
        <p:spPr>
          <a:xfrm>
            <a:off x="8458200" y="3273552"/>
            <a:ext cx="2542032" cy="411479"/>
          </a:xfrm>
          <a:prstGeom prst="rect">
            <a:avLst/>
          </a:prstGeom>
          <a:noFill/>
        </p:spPr>
        <p:txBody>
          <a:bodyPr wrap="square" anchor="ctr">
            <a:spAutoFit/>
          </a:bodyPr>
          <a:lstStyle/>
          <a:p>
            <a:pPr algn="l">
              <a:defRPr sz="1300" b="0">
                <a:solidFill>
                  <a:srgbClr val="627D98"/>
                </a:solidFill>
                <a:latin typeface="Aptos"/>
              </a:defRPr>
            </a:pPr>
            <a:r>
              <a:t>173</a:t>
            </a:r>
          </a:p>
        </p:txBody>
      </p:sp>
      <p:sp>
        <p:nvSpPr>
          <p:cNvPr id="16" name="Rounded Rectangle 15"/>
          <p:cNvSpPr/>
          <p:nvPr/>
        </p:nvSpPr>
        <p:spPr>
          <a:xfrm>
            <a:off x="8229600" y="3977639"/>
            <a:ext cx="2926080" cy="105156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3977639"/>
            <a:ext cx="73152" cy="1051560"/>
          </a:xfrm>
          <a:prstGeom prst="rect">
            <a:avLst/>
          </a:prstGeom>
          <a:solidFill>
            <a:srgbClr val="D64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4096511"/>
            <a:ext cx="2542032" cy="365760"/>
          </a:xfrm>
          <a:prstGeom prst="rect">
            <a:avLst/>
          </a:prstGeom>
          <a:noFill/>
        </p:spPr>
        <p:txBody>
          <a:bodyPr wrap="square" anchor="ctr">
            <a:spAutoFit/>
          </a:bodyPr>
          <a:lstStyle/>
          <a:p>
            <a:pPr algn="l">
              <a:defRPr sz="1500" b="1">
                <a:solidFill>
                  <a:srgbClr val="102A43"/>
                </a:solidFill>
                <a:latin typeface="Aptos"/>
              </a:defRPr>
            </a:pPr>
            <a:r>
              <a:t>MISSING PALLETS</a:t>
            </a:r>
          </a:p>
        </p:txBody>
      </p:sp>
      <p:sp>
        <p:nvSpPr>
          <p:cNvPr id="19" name="TextBox 18"/>
          <p:cNvSpPr txBox="1"/>
          <p:nvPr/>
        </p:nvSpPr>
        <p:spPr>
          <a:xfrm>
            <a:off x="8458200" y="4507992"/>
            <a:ext cx="2542032" cy="411479"/>
          </a:xfrm>
          <a:prstGeom prst="rect">
            <a:avLst/>
          </a:prstGeom>
          <a:noFill/>
        </p:spPr>
        <p:txBody>
          <a:bodyPr wrap="square" anchor="ctr">
            <a:spAutoFit/>
          </a:bodyPr>
          <a:lstStyle/>
          <a:p>
            <a:pPr algn="l">
              <a:defRPr sz="1300" b="0">
                <a:solidFill>
                  <a:srgbClr val="627D98"/>
                </a:solidFill>
                <a:latin typeface="Aptos"/>
              </a:defRPr>
            </a:pPr>
            <a:r>
              <a:t>2,288</a:t>
            </a:r>
          </a:p>
        </p:txBody>
      </p:sp>
      <p:sp>
        <p:nvSpPr>
          <p:cNvPr id="20" name="TextBox 19"/>
          <p:cNvSpPr txBox="1"/>
          <p:nvPr/>
        </p:nvSpPr>
        <p:spPr>
          <a:xfrm>
            <a:off x="8229600" y="5257800"/>
            <a:ext cx="2926080" cy="274320"/>
          </a:xfrm>
          <a:prstGeom prst="rect">
            <a:avLst/>
          </a:prstGeom>
          <a:noFill/>
        </p:spPr>
        <p:txBody>
          <a:bodyPr wrap="square" anchor="ctr">
            <a:spAutoFit/>
          </a:bodyPr>
          <a:lstStyle/>
          <a:p>
            <a:pPr algn="ctr">
              <a:defRPr sz="1100" b="0">
                <a:solidFill>
                  <a:srgbClr val="627D98"/>
                </a:solidFill>
                <a:latin typeface="Aptos"/>
              </a:defRPr>
            </a:pPr>
            <a:r>
              <a:t>Synthetic proof-of-concept results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28600"/>
            <a:ext cx="10972800" cy="274320"/>
          </a:xfrm>
          <a:prstGeom prst="rect">
            <a:avLst/>
          </a:prstGeom>
          <a:noFill/>
        </p:spPr>
        <p:txBody>
          <a:bodyPr wrap="square" anchor="ctr">
            <a:spAutoFit/>
          </a:bodyPr>
          <a:lstStyle/>
          <a:p>
            <a:pPr algn="l">
              <a:defRPr sz="1000" b="1">
                <a:solidFill>
                  <a:srgbClr val="00A6A6"/>
                </a:solidFill>
                <a:latin typeface="Aptos"/>
              </a:defRPr>
            </a:pPr>
            <a:r>
              <a:t>ANALYTICS</a:t>
            </a:r>
          </a:p>
        </p:txBody>
      </p:sp>
      <p:sp>
        <p:nvSpPr>
          <p:cNvPr id="4" name="TextBox 3"/>
          <p:cNvSpPr txBox="1"/>
          <p:nvPr/>
        </p:nvSpPr>
        <p:spPr>
          <a:xfrm>
            <a:off x="566928" y="530352"/>
            <a:ext cx="10972800" cy="594360"/>
          </a:xfrm>
          <a:prstGeom prst="rect">
            <a:avLst/>
          </a:prstGeom>
          <a:noFill/>
        </p:spPr>
        <p:txBody>
          <a:bodyPr wrap="square" anchor="ctr">
            <a:spAutoFit/>
          </a:bodyPr>
          <a:lstStyle/>
          <a:p>
            <a:pPr algn="l">
              <a:defRPr sz="2700" b="1">
                <a:solidFill>
                  <a:srgbClr val="102A43"/>
                </a:solidFill>
                <a:latin typeface="Aptos"/>
              </a:defRPr>
            </a:pPr>
            <a:r>
              <a:t>Athena answers operational questions without rescanning CSV</a:t>
            </a:r>
          </a:p>
        </p:txBody>
      </p:sp>
      <p:sp>
        <p:nvSpPr>
          <p:cNvPr id="5" name="TextBox 4"/>
          <p:cNvSpPr txBox="1"/>
          <p:nvPr/>
        </p:nvSpPr>
        <p:spPr>
          <a:xfrm>
            <a:off x="576072" y="6547104"/>
            <a:ext cx="4754880" cy="182880"/>
          </a:xfrm>
          <a:prstGeom prst="rect">
            <a:avLst/>
          </a:prstGeom>
          <a:noFill/>
        </p:spPr>
        <p:txBody>
          <a:bodyPr wrap="square" anchor="ctr">
            <a:spAutoFit/>
          </a:bodyPr>
          <a:lstStyle/>
          <a:p>
            <a:pPr algn="l">
              <a:defRPr sz="900" b="0">
                <a:solidFill>
                  <a:srgbClr val="627D98"/>
                </a:solidFill>
                <a:latin typeface="Aptos"/>
              </a:defRPr>
            </a:pPr>
            <a:r>
              <a:t>CS-675 Big Data Management  |  Shuhao Lin</a:t>
            </a:r>
          </a:p>
        </p:txBody>
      </p:sp>
      <p:sp>
        <p:nvSpPr>
          <p:cNvPr id="6" name="TextBox 5"/>
          <p:cNvSpPr txBox="1"/>
          <p:nvPr/>
        </p:nvSpPr>
        <p:spPr>
          <a:xfrm>
            <a:off x="11201400" y="6547104"/>
            <a:ext cx="365760" cy="182880"/>
          </a:xfrm>
          <a:prstGeom prst="rect">
            <a:avLst/>
          </a:prstGeom>
          <a:noFill/>
        </p:spPr>
        <p:txBody>
          <a:bodyPr wrap="square" anchor="ctr">
            <a:spAutoFit/>
          </a:bodyPr>
          <a:lstStyle/>
          <a:p>
            <a:pPr algn="r">
              <a:defRPr sz="900" b="0">
                <a:solidFill>
                  <a:srgbClr val="627D98"/>
                </a:solidFill>
                <a:latin typeface="Aptos"/>
              </a:defRPr>
            </a:pPr>
            <a:r>
              <a:t>10</a:t>
            </a:r>
          </a:p>
        </p:txBody>
      </p:sp>
      <p:pic>
        <p:nvPicPr>
          <p:cNvPr id="7" name="Picture 6" descr="product_volume.png"/>
          <p:cNvPicPr>
            <a:picLocks noChangeAspect="1"/>
          </p:cNvPicPr>
          <p:nvPr/>
        </p:nvPicPr>
        <p:blipFill>
          <a:blip r:embed="rId3"/>
          <a:stretch>
            <a:fillRect/>
          </a:stretch>
        </p:blipFill>
        <p:spPr>
          <a:xfrm>
            <a:off x="548640" y="1325880"/>
            <a:ext cx="6949440" cy="3328098"/>
          </a:xfrm>
          <a:prstGeom prst="rect">
            <a:avLst/>
          </a:prstGeom>
        </p:spPr>
      </p:pic>
      <p:sp>
        <p:nvSpPr>
          <p:cNvPr id="8" name="TextBox 7"/>
          <p:cNvSpPr txBox="1"/>
          <p:nvPr/>
        </p:nvSpPr>
        <p:spPr>
          <a:xfrm>
            <a:off x="7863840" y="1508760"/>
            <a:ext cx="3566160" cy="3383280"/>
          </a:xfrm>
          <a:prstGeom prst="rect">
            <a:avLst/>
          </a:prstGeom>
          <a:noFill/>
        </p:spPr>
        <p:txBody>
          <a:bodyPr wrap="square">
            <a:spAutoFit/>
          </a:bodyPr>
          <a:lstStyle/>
          <a:p>
            <a:pPr>
              <a:spcAft>
                <a:spcPts val="1200"/>
              </a:spcAft>
              <a:defRPr sz="1600">
                <a:solidFill>
                  <a:srgbClr val="243B53"/>
                </a:solidFill>
                <a:latin typeface="Aptos"/>
              </a:defRPr>
            </a:pPr>
            <a:r>
              <a:t>• Which orders are short or waiting for inbound?</a:t>
            </a:r>
          </a:p>
          <a:p>
            <a:pPr>
              <a:spcAft>
                <a:spcPts val="1200"/>
              </a:spcAft>
              <a:defRPr sz="1600">
                <a:solidFill>
                  <a:srgbClr val="243B53"/>
                </a:solidFill>
                <a:latin typeface="Aptos"/>
              </a:defRPr>
            </a:pPr>
            <a:r>
              <a:t>• How many pallets are missing by warehouse?</a:t>
            </a:r>
          </a:p>
          <a:p>
            <a:pPr>
              <a:spcAft>
                <a:spcPts val="1200"/>
              </a:spcAft>
              <a:defRPr sz="1600">
                <a:solidFill>
                  <a:srgbClr val="243B53"/>
                </a:solidFill>
                <a:latin typeface="Aptos"/>
              </a:defRPr>
            </a:pPr>
            <a:r>
              <a:t>• What is the first expected availability date?</a:t>
            </a:r>
          </a:p>
          <a:p>
            <a:pPr>
              <a:spcAft>
                <a:spcPts val="1200"/>
              </a:spcAft>
              <a:defRPr sz="1600">
                <a:solidFill>
                  <a:srgbClr val="243B53"/>
                </a:solidFill>
                <a:latin typeface="Aptos"/>
              </a:defRPr>
            </a:pPr>
            <a:r>
              <a:t>• Which products drive the most inbound and outbound volume?</a:t>
            </a:r>
          </a:p>
          <a:p>
            <a:pPr>
              <a:spcAft>
                <a:spcPts val="1200"/>
              </a:spcAft>
              <a:defRPr sz="1600">
                <a:solidFill>
                  <a:srgbClr val="243B53"/>
                </a:solidFill>
                <a:latin typeface="Aptos"/>
              </a:defRPr>
            </a:pPr>
            <a:r>
              <a:t>• Which products experience the most adjustments and delays?</a:t>
            </a:r>
          </a:p>
        </p:txBody>
      </p:sp>
      <p:sp>
        <p:nvSpPr>
          <p:cNvPr id="9" name="TextBox 8"/>
          <p:cNvSpPr txBox="1"/>
          <p:nvPr/>
        </p:nvSpPr>
        <p:spPr>
          <a:xfrm>
            <a:off x="7909560" y="5074920"/>
            <a:ext cx="3429000" cy="594360"/>
          </a:xfrm>
          <a:prstGeom prst="rect">
            <a:avLst/>
          </a:prstGeom>
          <a:noFill/>
        </p:spPr>
        <p:txBody>
          <a:bodyPr wrap="square" anchor="ctr">
            <a:spAutoFit/>
          </a:bodyPr>
          <a:lstStyle/>
          <a:p>
            <a:pPr algn="ctr">
              <a:defRPr sz="1400" b="1">
                <a:solidFill>
                  <a:srgbClr val="1976D2"/>
                </a:solidFill>
                <a:latin typeface="Aptos"/>
              </a:defRPr>
            </a:pPr>
            <a:r>
              <a:t>Partition pruning + columnar storage = lower query cost and faster dashboards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28600"/>
            <a:ext cx="10972800" cy="274320"/>
          </a:xfrm>
          <a:prstGeom prst="rect">
            <a:avLst/>
          </a:prstGeom>
          <a:noFill/>
        </p:spPr>
        <p:txBody>
          <a:bodyPr wrap="square" anchor="ctr">
            <a:spAutoFit/>
          </a:bodyPr>
          <a:lstStyle/>
          <a:p>
            <a:pPr algn="l">
              <a:defRPr sz="1000" b="1">
                <a:solidFill>
                  <a:srgbClr val="00A6A6"/>
                </a:solidFill>
                <a:latin typeface="Aptos"/>
              </a:defRPr>
            </a:pPr>
            <a:r>
              <a:t>BIG-DATA STRATEGY</a:t>
            </a:r>
          </a:p>
        </p:txBody>
      </p:sp>
      <p:sp>
        <p:nvSpPr>
          <p:cNvPr id="4" name="TextBox 3"/>
          <p:cNvSpPr txBox="1"/>
          <p:nvPr/>
        </p:nvSpPr>
        <p:spPr>
          <a:xfrm>
            <a:off x="566928" y="530352"/>
            <a:ext cx="10972800" cy="594360"/>
          </a:xfrm>
          <a:prstGeom prst="rect">
            <a:avLst/>
          </a:prstGeom>
          <a:noFill/>
        </p:spPr>
        <p:txBody>
          <a:bodyPr wrap="square" anchor="ctr">
            <a:spAutoFit/>
          </a:bodyPr>
          <a:lstStyle/>
          <a:p>
            <a:pPr algn="l">
              <a:defRPr sz="2700" b="1">
                <a:solidFill>
                  <a:srgbClr val="102A43"/>
                </a:solidFill>
                <a:latin typeface="Aptos"/>
              </a:defRPr>
            </a:pPr>
            <a:r>
              <a:t>The design scales to 100 million records</a:t>
            </a:r>
          </a:p>
        </p:txBody>
      </p:sp>
      <p:sp>
        <p:nvSpPr>
          <p:cNvPr id="5" name="TextBox 4"/>
          <p:cNvSpPr txBox="1"/>
          <p:nvPr/>
        </p:nvSpPr>
        <p:spPr>
          <a:xfrm>
            <a:off x="576072" y="6547104"/>
            <a:ext cx="4754880" cy="182880"/>
          </a:xfrm>
          <a:prstGeom prst="rect">
            <a:avLst/>
          </a:prstGeom>
          <a:noFill/>
        </p:spPr>
        <p:txBody>
          <a:bodyPr wrap="square" anchor="ctr">
            <a:spAutoFit/>
          </a:bodyPr>
          <a:lstStyle/>
          <a:p>
            <a:pPr algn="l">
              <a:defRPr sz="900" b="0">
                <a:solidFill>
                  <a:srgbClr val="627D98"/>
                </a:solidFill>
                <a:latin typeface="Aptos"/>
              </a:defRPr>
            </a:pPr>
            <a:r>
              <a:t>CS-675 Big Data Management  |  Shuhao Lin</a:t>
            </a:r>
          </a:p>
        </p:txBody>
      </p:sp>
      <p:sp>
        <p:nvSpPr>
          <p:cNvPr id="6" name="TextBox 5"/>
          <p:cNvSpPr txBox="1"/>
          <p:nvPr/>
        </p:nvSpPr>
        <p:spPr>
          <a:xfrm>
            <a:off x="11201400" y="6547104"/>
            <a:ext cx="365760" cy="182880"/>
          </a:xfrm>
          <a:prstGeom prst="rect">
            <a:avLst/>
          </a:prstGeom>
          <a:noFill/>
        </p:spPr>
        <p:txBody>
          <a:bodyPr wrap="square" anchor="ctr">
            <a:spAutoFit/>
          </a:bodyPr>
          <a:lstStyle/>
          <a:p>
            <a:pPr algn="r">
              <a:defRPr sz="900" b="0">
                <a:solidFill>
                  <a:srgbClr val="627D98"/>
                </a:solidFill>
                <a:latin typeface="Aptos"/>
              </a:defRPr>
            </a:pPr>
            <a:r>
              <a:t>11</a:t>
            </a:r>
          </a:p>
        </p:txBody>
      </p:sp>
      <p:sp>
        <p:nvSpPr>
          <p:cNvPr id="7" name="Rounded Rectangle 6"/>
          <p:cNvSpPr/>
          <p:nvPr/>
        </p:nvSpPr>
        <p:spPr>
          <a:xfrm>
            <a:off x="640080" y="1417320"/>
            <a:ext cx="3429000" cy="141732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417320"/>
            <a:ext cx="73152" cy="141732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36192"/>
            <a:ext cx="3044952" cy="365760"/>
          </a:xfrm>
          <a:prstGeom prst="rect">
            <a:avLst/>
          </a:prstGeom>
          <a:noFill/>
        </p:spPr>
        <p:txBody>
          <a:bodyPr wrap="square" anchor="ctr">
            <a:spAutoFit/>
          </a:bodyPr>
          <a:lstStyle/>
          <a:p>
            <a:pPr algn="l">
              <a:defRPr sz="1500" b="1">
                <a:solidFill>
                  <a:srgbClr val="102A43"/>
                </a:solidFill>
                <a:latin typeface="Aptos"/>
              </a:defRPr>
            </a:pPr>
            <a:r>
              <a:t>GENERATE IN PARTS</a:t>
            </a:r>
          </a:p>
        </p:txBody>
      </p:sp>
      <p:sp>
        <p:nvSpPr>
          <p:cNvPr id="10" name="TextBox 9"/>
          <p:cNvSpPr txBox="1"/>
          <p:nvPr/>
        </p:nvSpPr>
        <p:spPr>
          <a:xfrm>
            <a:off x="868680" y="1947672"/>
            <a:ext cx="3044952" cy="777240"/>
          </a:xfrm>
          <a:prstGeom prst="rect">
            <a:avLst/>
          </a:prstGeom>
          <a:noFill/>
        </p:spPr>
        <p:txBody>
          <a:bodyPr wrap="square" anchor="ctr">
            <a:spAutoFit/>
          </a:bodyPr>
          <a:lstStyle/>
          <a:p>
            <a:pPr algn="l">
              <a:defRPr sz="1300" b="0">
                <a:solidFill>
                  <a:srgbClr val="627D98"/>
                </a:solidFill>
                <a:latin typeface="Aptos"/>
              </a:defRPr>
            </a:pPr>
            <a:r>
              <a:t>Create deterministic partitions so generation can restart and parallelize.</a:t>
            </a:r>
          </a:p>
        </p:txBody>
      </p:sp>
      <p:sp>
        <p:nvSpPr>
          <p:cNvPr id="11" name="Rounded Rectangle 10"/>
          <p:cNvSpPr/>
          <p:nvPr/>
        </p:nvSpPr>
        <p:spPr>
          <a:xfrm>
            <a:off x="4370832" y="1417320"/>
            <a:ext cx="3429000" cy="141732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417320"/>
            <a:ext cx="73152" cy="141732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9432" y="1536192"/>
            <a:ext cx="3044952" cy="365760"/>
          </a:xfrm>
          <a:prstGeom prst="rect">
            <a:avLst/>
          </a:prstGeom>
          <a:noFill/>
        </p:spPr>
        <p:txBody>
          <a:bodyPr wrap="square" anchor="ctr">
            <a:spAutoFit/>
          </a:bodyPr>
          <a:lstStyle/>
          <a:p>
            <a:pPr algn="l">
              <a:defRPr sz="1500" b="1">
                <a:solidFill>
                  <a:srgbClr val="102A43"/>
                </a:solidFill>
                <a:latin typeface="Aptos"/>
              </a:defRPr>
            </a:pPr>
            <a:r>
              <a:t>DISTRIBUTE BY KEY</a:t>
            </a:r>
          </a:p>
        </p:txBody>
      </p:sp>
      <p:sp>
        <p:nvSpPr>
          <p:cNvPr id="14" name="TextBox 13"/>
          <p:cNvSpPr txBox="1"/>
          <p:nvPr/>
        </p:nvSpPr>
        <p:spPr>
          <a:xfrm>
            <a:off x="4599432" y="1947672"/>
            <a:ext cx="3044952" cy="777240"/>
          </a:xfrm>
          <a:prstGeom prst="rect">
            <a:avLst/>
          </a:prstGeom>
          <a:noFill/>
        </p:spPr>
        <p:txBody>
          <a:bodyPr wrap="square" anchor="ctr">
            <a:spAutoFit/>
          </a:bodyPr>
          <a:lstStyle/>
          <a:p>
            <a:pPr algn="l">
              <a:defRPr sz="1300" b="0">
                <a:solidFill>
                  <a:srgbClr val="627D98"/>
                </a:solidFill>
                <a:latin typeface="Aptos"/>
              </a:defRPr>
            </a:pPr>
            <a:r>
              <a:t>Repartition calculations by warehouse and product; avoid collecting data to the driver.</a:t>
            </a:r>
          </a:p>
        </p:txBody>
      </p:sp>
      <p:sp>
        <p:nvSpPr>
          <p:cNvPr id="15" name="Rounded Rectangle 14"/>
          <p:cNvSpPr/>
          <p:nvPr/>
        </p:nvSpPr>
        <p:spPr>
          <a:xfrm>
            <a:off x="8110727" y="1417320"/>
            <a:ext cx="3429000" cy="141732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10727" y="1417320"/>
            <a:ext cx="73152" cy="1417320"/>
          </a:xfrm>
          <a:prstGeom prst="rect">
            <a:avLst/>
          </a:prstGeom>
          <a:solidFill>
            <a:srgbClr val="F39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7" y="1536192"/>
            <a:ext cx="3044952" cy="365760"/>
          </a:xfrm>
          <a:prstGeom prst="rect">
            <a:avLst/>
          </a:prstGeom>
          <a:noFill/>
        </p:spPr>
        <p:txBody>
          <a:bodyPr wrap="square" anchor="ctr">
            <a:spAutoFit/>
          </a:bodyPr>
          <a:lstStyle/>
          <a:p>
            <a:pPr algn="l">
              <a:defRPr sz="1500" b="1">
                <a:solidFill>
                  <a:srgbClr val="102A43"/>
                </a:solidFill>
                <a:latin typeface="Aptos"/>
              </a:defRPr>
            </a:pPr>
            <a:r>
              <a:t>STORE COLUMNAR</a:t>
            </a:r>
          </a:p>
        </p:txBody>
      </p:sp>
      <p:sp>
        <p:nvSpPr>
          <p:cNvPr id="18" name="TextBox 17"/>
          <p:cNvSpPr txBox="1"/>
          <p:nvPr/>
        </p:nvSpPr>
        <p:spPr>
          <a:xfrm>
            <a:off x="8339327" y="1947672"/>
            <a:ext cx="3044952" cy="777240"/>
          </a:xfrm>
          <a:prstGeom prst="rect">
            <a:avLst/>
          </a:prstGeom>
          <a:noFill/>
        </p:spPr>
        <p:txBody>
          <a:bodyPr wrap="square" anchor="ctr">
            <a:spAutoFit/>
          </a:bodyPr>
          <a:lstStyle/>
          <a:p>
            <a:pPr algn="l">
              <a:defRPr sz="1300" b="0">
                <a:solidFill>
                  <a:srgbClr val="627D98"/>
                </a:solidFill>
                <a:latin typeface="Aptos"/>
              </a:defRPr>
            </a:pPr>
            <a:r>
              <a:t>Write Snappy Parquet partitioned by warehouse and event month.</a:t>
            </a:r>
          </a:p>
        </p:txBody>
      </p:sp>
      <p:sp>
        <p:nvSpPr>
          <p:cNvPr id="19" name="TextBox 18"/>
          <p:cNvSpPr txBox="1"/>
          <p:nvPr/>
        </p:nvSpPr>
        <p:spPr>
          <a:xfrm>
            <a:off x="731520" y="3429000"/>
            <a:ext cx="10515600" cy="1965960"/>
          </a:xfrm>
          <a:prstGeom prst="rect">
            <a:avLst/>
          </a:prstGeom>
          <a:noFill/>
        </p:spPr>
        <p:txBody>
          <a:bodyPr wrap="square">
            <a:spAutoFit/>
          </a:bodyPr>
          <a:lstStyle/>
          <a:p>
            <a:pPr>
              <a:spcAft>
                <a:spcPts val="1200"/>
              </a:spcAft>
              <a:defRPr sz="1800">
                <a:solidFill>
                  <a:srgbClr val="243B53"/>
                </a:solidFill>
                <a:latin typeface="Aptos"/>
              </a:defRPr>
            </a:pPr>
            <a:r>
              <a:t>• Use Spark window functions for chronological balances.</a:t>
            </a:r>
          </a:p>
          <a:p>
            <a:pPr>
              <a:spcAft>
                <a:spcPts val="1200"/>
              </a:spcAft>
              <a:defRPr sz="1800">
                <a:solidFill>
                  <a:srgbClr val="243B53"/>
                </a:solidFill>
                <a:latin typeface="Aptos"/>
              </a:defRPr>
            </a:pPr>
            <a:r>
              <a:t>• Enable adaptive query execution to improve shuffle plans.</a:t>
            </a:r>
          </a:p>
          <a:p>
            <a:pPr>
              <a:spcAft>
                <a:spcPts val="1200"/>
              </a:spcAft>
              <a:defRPr sz="1800">
                <a:solidFill>
                  <a:srgbClr val="243B53"/>
                </a:solidFill>
                <a:latin typeface="Aptos"/>
              </a:defRPr>
            </a:pPr>
            <a:r>
              <a:t>• Inspect row counts, rejected records, partition sizes, and data skew.</a:t>
            </a:r>
          </a:p>
          <a:p>
            <a:pPr>
              <a:spcAft>
                <a:spcPts val="1200"/>
              </a:spcAft>
              <a:defRPr sz="1800">
                <a:solidFill>
                  <a:srgbClr val="243B53"/>
                </a:solidFill>
                <a:latin typeface="Aptos"/>
              </a:defRPr>
            </a:pPr>
            <a:r>
              <a:t>• Use Athena workgroup controls and S3 lifecycle policies to manage cost.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28600"/>
            <a:ext cx="10972800" cy="274320"/>
          </a:xfrm>
          <a:prstGeom prst="rect">
            <a:avLst/>
          </a:prstGeom>
          <a:noFill/>
        </p:spPr>
        <p:txBody>
          <a:bodyPr wrap="square" anchor="ctr">
            <a:spAutoFit/>
          </a:bodyPr>
          <a:lstStyle/>
          <a:p>
            <a:pPr algn="l">
              <a:defRPr sz="1000" b="1">
                <a:solidFill>
                  <a:srgbClr val="00A6A6"/>
                </a:solidFill>
                <a:latin typeface="Aptos"/>
              </a:defRPr>
            </a:pPr>
            <a:r>
              <a:t>CONCLUSION</a:t>
            </a:r>
          </a:p>
        </p:txBody>
      </p:sp>
      <p:sp>
        <p:nvSpPr>
          <p:cNvPr id="4" name="TextBox 3"/>
          <p:cNvSpPr txBox="1"/>
          <p:nvPr/>
        </p:nvSpPr>
        <p:spPr>
          <a:xfrm>
            <a:off x="566928" y="530352"/>
            <a:ext cx="10972800" cy="594360"/>
          </a:xfrm>
          <a:prstGeom prst="rect">
            <a:avLst/>
          </a:prstGeom>
          <a:noFill/>
        </p:spPr>
        <p:txBody>
          <a:bodyPr wrap="square" anchor="ctr">
            <a:spAutoFit/>
          </a:bodyPr>
          <a:lstStyle/>
          <a:p>
            <a:pPr algn="l">
              <a:defRPr sz="2700" b="1">
                <a:solidFill>
                  <a:srgbClr val="102A43"/>
                </a:solidFill>
                <a:latin typeface="Aptos"/>
              </a:defRPr>
            </a:pPr>
            <a:r>
              <a:t>The project turns warehouse events into early action</a:t>
            </a:r>
          </a:p>
        </p:txBody>
      </p:sp>
      <p:sp>
        <p:nvSpPr>
          <p:cNvPr id="5" name="TextBox 4"/>
          <p:cNvSpPr txBox="1"/>
          <p:nvPr/>
        </p:nvSpPr>
        <p:spPr>
          <a:xfrm>
            <a:off x="576072" y="6547104"/>
            <a:ext cx="4754880" cy="182880"/>
          </a:xfrm>
          <a:prstGeom prst="rect">
            <a:avLst/>
          </a:prstGeom>
          <a:noFill/>
        </p:spPr>
        <p:txBody>
          <a:bodyPr wrap="square" anchor="ctr">
            <a:spAutoFit/>
          </a:bodyPr>
          <a:lstStyle/>
          <a:p>
            <a:pPr algn="l">
              <a:defRPr sz="900" b="0">
                <a:solidFill>
                  <a:srgbClr val="627D98"/>
                </a:solidFill>
                <a:latin typeface="Aptos"/>
              </a:defRPr>
            </a:pPr>
            <a:r>
              <a:t>CS-675 Big Data Management  |  Shuhao Lin</a:t>
            </a:r>
          </a:p>
        </p:txBody>
      </p:sp>
      <p:sp>
        <p:nvSpPr>
          <p:cNvPr id="6" name="TextBox 5"/>
          <p:cNvSpPr txBox="1"/>
          <p:nvPr/>
        </p:nvSpPr>
        <p:spPr>
          <a:xfrm>
            <a:off x="11201400" y="6547104"/>
            <a:ext cx="365760" cy="182880"/>
          </a:xfrm>
          <a:prstGeom prst="rect">
            <a:avLst/>
          </a:prstGeom>
          <a:noFill/>
        </p:spPr>
        <p:txBody>
          <a:bodyPr wrap="square" anchor="ctr">
            <a:spAutoFit/>
          </a:bodyPr>
          <a:lstStyle/>
          <a:p>
            <a:pPr algn="r">
              <a:defRPr sz="900" b="0">
                <a:solidFill>
                  <a:srgbClr val="627D98"/>
                </a:solidFill>
                <a:latin typeface="Aptos"/>
              </a:defRPr>
            </a:pPr>
            <a:r>
              <a:t>12</a:t>
            </a:r>
          </a:p>
        </p:txBody>
      </p:sp>
      <p:sp>
        <p:nvSpPr>
          <p:cNvPr id="7" name="Rounded Rectangle 6"/>
          <p:cNvSpPr/>
          <p:nvPr/>
        </p:nvSpPr>
        <p:spPr>
          <a:xfrm>
            <a:off x="640080" y="1417320"/>
            <a:ext cx="3429000" cy="155448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417320"/>
            <a:ext cx="73152" cy="155448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36192"/>
            <a:ext cx="3044952" cy="365760"/>
          </a:xfrm>
          <a:prstGeom prst="rect">
            <a:avLst/>
          </a:prstGeom>
          <a:noFill/>
        </p:spPr>
        <p:txBody>
          <a:bodyPr wrap="square" anchor="ctr">
            <a:spAutoFit/>
          </a:bodyPr>
          <a:lstStyle/>
          <a:p>
            <a:pPr algn="l">
              <a:defRPr sz="1500" b="1">
                <a:solidFill>
                  <a:srgbClr val="102A43"/>
                </a:solidFill>
                <a:latin typeface="Aptos"/>
              </a:defRPr>
            </a:pPr>
            <a:r>
              <a:t>OPERATIONAL VALUE</a:t>
            </a:r>
          </a:p>
        </p:txBody>
      </p:sp>
      <p:sp>
        <p:nvSpPr>
          <p:cNvPr id="10" name="TextBox 9"/>
          <p:cNvSpPr txBox="1"/>
          <p:nvPr/>
        </p:nvSpPr>
        <p:spPr>
          <a:xfrm>
            <a:off x="868680" y="1947672"/>
            <a:ext cx="3044952" cy="914400"/>
          </a:xfrm>
          <a:prstGeom prst="rect">
            <a:avLst/>
          </a:prstGeom>
          <a:noFill/>
        </p:spPr>
        <p:txBody>
          <a:bodyPr wrap="square" anchor="ctr">
            <a:spAutoFit/>
          </a:bodyPr>
          <a:lstStyle/>
          <a:p>
            <a:pPr algn="l">
              <a:defRPr sz="1300" b="0">
                <a:solidFill>
                  <a:srgbClr val="627D98"/>
                </a:solidFill>
                <a:latin typeface="Aptos"/>
              </a:defRPr>
            </a:pPr>
            <a:r>
              <a:t>Earlier shortage visibility • quantified pallet gaps • clearer inbound dependency</a:t>
            </a:r>
          </a:p>
        </p:txBody>
      </p:sp>
      <p:sp>
        <p:nvSpPr>
          <p:cNvPr id="11" name="Rounded Rectangle 10"/>
          <p:cNvSpPr/>
          <p:nvPr/>
        </p:nvSpPr>
        <p:spPr>
          <a:xfrm>
            <a:off x="4370832" y="1417320"/>
            <a:ext cx="3429000" cy="155448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417320"/>
            <a:ext cx="73152" cy="155448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9432" y="1536192"/>
            <a:ext cx="3044952" cy="365760"/>
          </a:xfrm>
          <a:prstGeom prst="rect">
            <a:avLst/>
          </a:prstGeom>
          <a:noFill/>
        </p:spPr>
        <p:txBody>
          <a:bodyPr wrap="square" anchor="ctr">
            <a:spAutoFit/>
          </a:bodyPr>
          <a:lstStyle/>
          <a:p>
            <a:pPr algn="l">
              <a:defRPr sz="1500" b="1">
                <a:solidFill>
                  <a:srgbClr val="102A43"/>
                </a:solidFill>
                <a:latin typeface="Aptos"/>
              </a:defRPr>
            </a:pPr>
            <a:r>
              <a:t>TECHNICAL VALUE</a:t>
            </a:r>
          </a:p>
        </p:txBody>
      </p:sp>
      <p:sp>
        <p:nvSpPr>
          <p:cNvPr id="14" name="TextBox 13"/>
          <p:cNvSpPr txBox="1"/>
          <p:nvPr/>
        </p:nvSpPr>
        <p:spPr>
          <a:xfrm>
            <a:off x="4599432" y="1947672"/>
            <a:ext cx="3044952" cy="914400"/>
          </a:xfrm>
          <a:prstGeom prst="rect">
            <a:avLst/>
          </a:prstGeom>
          <a:noFill/>
        </p:spPr>
        <p:txBody>
          <a:bodyPr wrap="square" anchor="ctr">
            <a:spAutoFit/>
          </a:bodyPr>
          <a:lstStyle/>
          <a:p>
            <a:pPr algn="l">
              <a:defRPr sz="1300" b="0">
                <a:solidFill>
                  <a:srgbClr val="627D98"/>
                </a:solidFill>
                <a:latin typeface="Aptos"/>
              </a:defRPr>
            </a:pPr>
            <a:r>
              <a:t>Spark windows • Parquet • Athena SQL • Terraform • reproducibility</a:t>
            </a:r>
          </a:p>
        </p:txBody>
      </p:sp>
      <p:sp>
        <p:nvSpPr>
          <p:cNvPr id="15" name="Rounded Rectangle 14"/>
          <p:cNvSpPr/>
          <p:nvPr/>
        </p:nvSpPr>
        <p:spPr>
          <a:xfrm>
            <a:off x="8110727" y="1417320"/>
            <a:ext cx="3429000" cy="1554480"/>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10727" y="1417320"/>
            <a:ext cx="73152" cy="1554480"/>
          </a:xfrm>
          <a:prstGeom prst="rect">
            <a:avLst/>
          </a:prstGeom>
          <a:solidFill>
            <a:srgbClr val="F39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7" y="1536192"/>
            <a:ext cx="3044952" cy="365760"/>
          </a:xfrm>
          <a:prstGeom prst="rect">
            <a:avLst/>
          </a:prstGeom>
          <a:noFill/>
        </p:spPr>
        <p:txBody>
          <a:bodyPr wrap="square" anchor="ctr">
            <a:spAutoFit/>
          </a:bodyPr>
          <a:lstStyle/>
          <a:p>
            <a:pPr algn="l">
              <a:defRPr sz="1500" b="1">
                <a:solidFill>
                  <a:srgbClr val="102A43"/>
                </a:solidFill>
                <a:latin typeface="Aptos"/>
              </a:defRPr>
            </a:pPr>
            <a:r>
              <a:t>NEXT STEPS</a:t>
            </a:r>
          </a:p>
        </p:txBody>
      </p:sp>
      <p:sp>
        <p:nvSpPr>
          <p:cNvPr id="18" name="TextBox 17"/>
          <p:cNvSpPr txBox="1"/>
          <p:nvPr/>
        </p:nvSpPr>
        <p:spPr>
          <a:xfrm>
            <a:off x="8339327" y="1947672"/>
            <a:ext cx="3044952" cy="914400"/>
          </a:xfrm>
          <a:prstGeom prst="rect">
            <a:avLst/>
          </a:prstGeom>
          <a:noFill/>
        </p:spPr>
        <p:txBody>
          <a:bodyPr wrap="square" anchor="ctr">
            <a:spAutoFit/>
          </a:bodyPr>
          <a:lstStyle/>
          <a:p>
            <a:pPr algn="l">
              <a:defRPr sz="1300" b="0">
                <a:solidFill>
                  <a:srgbClr val="627D98"/>
                </a:solidFill>
                <a:latin typeface="Aptos"/>
              </a:defRPr>
            </a:pPr>
            <a:r>
              <a:t>Run the 100M test • capture performance metrics • connect a dashboard</a:t>
            </a:r>
          </a:p>
        </p:txBody>
      </p:sp>
      <p:sp>
        <p:nvSpPr>
          <p:cNvPr id="19" name="TextBox 18"/>
          <p:cNvSpPr txBox="1"/>
          <p:nvPr/>
        </p:nvSpPr>
        <p:spPr>
          <a:xfrm>
            <a:off x="685800" y="3794760"/>
            <a:ext cx="10789920" cy="548640"/>
          </a:xfrm>
          <a:prstGeom prst="rect">
            <a:avLst/>
          </a:prstGeom>
          <a:noFill/>
        </p:spPr>
        <p:txBody>
          <a:bodyPr wrap="square" anchor="ctr">
            <a:spAutoFit/>
          </a:bodyPr>
          <a:lstStyle/>
          <a:p>
            <a:pPr algn="ctr">
              <a:defRPr sz="2500" b="1">
                <a:solidFill>
                  <a:srgbClr val="102A43"/>
                </a:solidFill>
                <a:latin typeface="Aptos"/>
              </a:defRPr>
            </a:pPr>
            <a:r>
              <a:t>Warehouse Inventory and Outbound Order Readiness</a:t>
            </a:r>
          </a:p>
        </p:txBody>
      </p:sp>
      <p:sp>
        <p:nvSpPr>
          <p:cNvPr id="20" name="TextBox 19"/>
          <p:cNvSpPr txBox="1"/>
          <p:nvPr/>
        </p:nvSpPr>
        <p:spPr>
          <a:xfrm>
            <a:off x="685800" y="4617720"/>
            <a:ext cx="10789920" cy="457200"/>
          </a:xfrm>
          <a:prstGeom prst="rect">
            <a:avLst/>
          </a:prstGeom>
          <a:noFill/>
        </p:spPr>
        <p:txBody>
          <a:bodyPr wrap="square" anchor="ctr">
            <a:spAutoFit/>
          </a:bodyPr>
          <a:lstStyle/>
          <a:p>
            <a:pPr algn="ctr">
              <a:defRPr sz="1800" b="1">
                <a:solidFill>
                  <a:srgbClr val="00A6A6"/>
                </a:solidFill>
                <a:latin typeface="Aptos"/>
              </a:defRPr>
            </a:pPr>
            <a:r>
              <a:t>Identify the shortage before the loading appointment.</a:t>
            </a:r>
          </a:p>
        </p:txBody>
      </p:sp>
      <p:sp>
        <p:nvSpPr>
          <p:cNvPr id="21" name="TextBox 20"/>
          <p:cNvSpPr txBox="1"/>
          <p:nvPr/>
        </p:nvSpPr>
        <p:spPr>
          <a:xfrm>
            <a:off x="685800" y="5486400"/>
            <a:ext cx="10789920" cy="457200"/>
          </a:xfrm>
          <a:prstGeom prst="rect">
            <a:avLst/>
          </a:prstGeom>
          <a:noFill/>
        </p:spPr>
        <p:txBody>
          <a:bodyPr wrap="square" anchor="ctr">
            <a:spAutoFit/>
          </a:bodyPr>
          <a:lstStyle/>
          <a:p>
            <a:pPr algn="ctr">
              <a:defRPr sz="2000" b="1">
                <a:solidFill>
                  <a:srgbClr val="243B53"/>
                </a:solidFill>
                <a:latin typeface="Aptos"/>
              </a:defRPr>
            </a:pPr>
            <a: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